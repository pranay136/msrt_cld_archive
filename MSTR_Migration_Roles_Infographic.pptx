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91729"/>
          </a:solidFill>
          <a:ln w="12700">
            <a:solidFill>
              <a:srgbClr val="0917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MicroStrategy CMC Migration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" y="3291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RESPONSIBILITIES  —  High-Level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0" y="20116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delivers  ·  EBI coordinates  ·  Business validates  ·  SRE sustains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" y="804672"/>
            <a:ext cx="2816352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804672"/>
            <a:ext cx="2816352" cy="58521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896112"/>
            <a:ext cx="402336" cy="402336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896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2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HCL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" y="841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HCL Migration Team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11155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Technical Delivery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395728" y="877824"/>
            <a:ext cx="56692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8778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FTEs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10896" y="1463040"/>
            <a:ext cx="2615184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all 3 migration phases end-to-end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automated toolkit scripts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JDBC, package &amp; user issues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migration runbook &amp; tech documentation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Week 1 hypercare on-call support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4544568"/>
            <a:ext cx="2670048" cy="0"/>
          </a:xfrm>
          <a:prstGeom prst="line">
            <a:avLst/>
          </a:prstGeom>
          <a:noFill/>
          <a:ln w="6350">
            <a:solidFill>
              <a:srgbClr val="D5D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59028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involvement: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74320" y="4764024"/>
            <a:ext cx="566928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96112" y="4764024"/>
            <a:ext cx="566928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517904" y="4764024"/>
            <a:ext cx="566928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17904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139696" y="4764024"/>
            <a:ext cx="566928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9696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
</a:t>
            </a:r>
            <a:pPr algn="ctr" indent="0" marL="0">
              <a:buNone/>
            </a:pPr>
            <a:r>
              <a:rPr lang="en-US" sz="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172968" y="804672"/>
            <a:ext cx="2816352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804672"/>
            <a:ext cx="2816352" cy="585216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4408" y="896112"/>
            <a:ext cx="402336" cy="402336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896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A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21608" y="841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EBI Team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721608" y="11155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Admin · ACL · Coordination Hub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367528" y="877824"/>
            <a:ext cx="56692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67528" y="8778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FTEs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82696" y="1463040"/>
            <a:ext cx="2615184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MSTR platform admin authority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&amp; tracks ALL access / ACL requests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every team at each gate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approves all config changes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smooth delivery &amp; SRE handover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46120" y="4544568"/>
            <a:ext cx="2670048" cy="0"/>
          </a:xfrm>
          <a:prstGeom prst="line">
            <a:avLst/>
          </a:prstGeom>
          <a:noFill/>
          <a:ln w="6350">
            <a:solidFill>
              <a:srgbClr val="D5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6120" y="459028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involvement: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246120" y="4764024"/>
            <a:ext cx="566928" cy="201168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867912" y="4764024"/>
            <a:ext cx="566928" cy="201168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67912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489704" y="4764024"/>
            <a:ext cx="566928" cy="201168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9704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111496" y="4764024"/>
            <a:ext cx="566928" cy="201168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11496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144768" y="804672"/>
            <a:ext cx="2816352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44768" y="804672"/>
            <a:ext cx="2816352" cy="58521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36208" y="896112"/>
            <a:ext cx="402336" cy="402336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896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348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BIZ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693408" y="841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Team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693408" y="11155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&amp; Validation  (Minimal Touch)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339328" y="877824"/>
            <a:ext cx="56692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39328" y="8778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FTEs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254496" y="1463040"/>
            <a:ext cx="2615184" cy="3063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user deactivation list (P1 gate)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on 5–10 priority reports only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AI-generated sign-off report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go/no-go approval for cutover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handles all discovery &amp; diff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17920" y="4544568"/>
            <a:ext cx="2670048" cy="0"/>
          </a:xfrm>
          <a:prstGeom prst="line">
            <a:avLst/>
          </a:prstGeom>
          <a:noFill/>
          <a:ln w="6350">
            <a:solidFill>
              <a:srgbClr val="D5D8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459028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involvement: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217920" y="4764024"/>
            <a:ext cx="566928" cy="20116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
</a:t>
            </a:r>
            <a:pPr algn="ctr" indent="0" marL="0">
              <a:buNone/>
            </a:pPr>
            <a:r>
              <a:rPr lang="en-US" sz="5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only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839712" y="4764024"/>
            <a:ext cx="566928" cy="20116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39712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461504" y="4764024"/>
            <a:ext cx="566928" cy="2011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61504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8083296" y="4764024"/>
            <a:ext cx="566928" cy="2011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83296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9116568" y="804672"/>
            <a:ext cx="2816352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9116568" y="804672"/>
            <a:ext cx="2816352" cy="585216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08008" y="896112"/>
            <a:ext cx="402336" cy="402336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208008" y="896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2B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SRE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9665208" y="841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SRE Team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665208" y="11155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Reliability  ·  Post-Migration Only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1311128" y="877824"/>
            <a:ext cx="56692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311128" y="8778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FTEs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116568" y="1389888"/>
            <a:ext cx="2816352" cy="256032"/>
          </a:xfrm>
          <a:prstGeom prst="rect">
            <a:avLst/>
          </a:prstGeom>
          <a:solidFill>
            <a:srgbClr val="FEF9E7"/>
          </a:solidFill>
          <a:ln w="9525">
            <a:solidFill>
              <a:srgbClr val="F1C40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89720" y="138988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 INVOLVED in Phases 1, 2 or 3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9226296" y="1682496"/>
            <a:ext cx="2615184" cy="2843784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 / Kubernetes cluster management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 Google Secret Manager + ESO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alerting &amp; SLO ownership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 policy compliance &amp; review</a:t>
            </a:r>
            <a:endParaRPr lang="en-US" sz="9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runbook stewardship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189720" y="4544568"/>
            <a:ext cx="2670048" cy="0"/>
          </a:xfrm>
          <a:prstGeom prst="line">
            <a:avLst/>
          </a:prstGeom>
          <a:noFill/>
          <a:ln w="6350">
            <a:solidFill>
              <a:srgbClr val="D5D8D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89720" y="4590288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involvement: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9189720" y="4764024"/>
            <a:ext cx="566928" cy="20116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189720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9811512" y="4764024"/>
            <a:ext cx="566928" cy="20116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811512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10433304" y="4764024"/>
            <a:ext cx="566928" cy="20116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433304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11055096" y="4764024"/>
            <a:ext cx="566928" cy="20116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1055096" y="476402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01168" y="519379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PHASE TIMELINE  —  When does each team engage?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01168" y="5449824"/>
            <a:ext cx="2816352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201168" y="5449824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</a:t>
            </a:r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3054096" y="55412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6D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256032" y="6016752"/>
            <a:ext cx="603504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56032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914400" y="6016752"/>
            <a:ext cx="603504" cy="18288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14400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1572768" y="6016752"/>
            <a:ext cx="603504" cy="182880"/>
          </a:xfrm>
          <a:prstGeom prst="rect">
            <a:avLst/>
          </a:prstGeom>
          <a:solidFill>
            <a:srgbClr val="6E7B8B"/>
          </a:solidFill>
          <a:ln w="12700">
            <a:solidFill>
              <a:srgbClr val="6E7B8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572768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2231136" y="6016752"/>
            <a:ext cx="603504" cy="182880"/>
          </a:xfrm>
          <a:prstGeom prst="rect">
            <a:avLst/>
          </a:prstGeom>
          <a:solidFill>
            <a:srgbClr val="6E7B8B"/>
          </a:solidFill>
          <a:ln w="12700">
            <a:solidFill>
              <a:srgbClr val="6E7B8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31136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3172968" y="5449824"/>
            <a:ext cx="2816352" cy="475488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3172968" y="5449824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</a:t>
            </a:r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025896" y="55412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6D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3227832" y="6016752"/>
            <a:ext cx="603504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27832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3886200" y="6016752"/>
            <a:ext cx="603504" cy="18288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886200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4544568" y="6016752"/>
            <a:ext cx="603504" cy="182880"/>
          </a:xfrm>
          <a:prstGeom prst="rect">
            <a:avLst/>
          </a:prstGeom>
          <a:solidFill>
            <a:srgbClr val="6E7B8B"/>
          </a:solidFill>
          <a:ln w="12700">
            <a:solidFill>
              <a:srgbClr val="6E7B8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544568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5202936" y="6016752"/>
            <a:ext cx="603504" cy="182880"/>
          </a:xfrm>
          <a:prstGeom prst="rect">
            <a:avLst/>
          </a:prstGeom>
          <a:solidFill>
            <a:srgbClr val="6E7B8B"/>
          </a:solidFill>
          <a:ln w="12700">
            <a:solidFill>
              <a:srgbClr val="6E7B8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202936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6144768" y="5449824"/>
            <a:ext cx="2816352" cy="47548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6144768" y="5449824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</a:t>
            </a:r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8997696" y="55412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E6D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1800" dirty="0"/>
          </a:p>
        </p:txBody>
      </p:sp>
      <p:sp>
        <p:nvSpPr>
          <p:cNvPr id="111" name="Shape 109"/>
          <p:cNvSpPr/>
          <p:nvPr/>
        </p:nvSpPr>
        <p:spPr>
          <a:xfrm>
            <a:off x="6199632" y="6016752"/>
            <a:ext cx="603504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199632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6858000" y="6016752"/>
            <a:ext cx="603504" cy="18288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858000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7516368" y="6016752"/>
            <a:ext cx="603504" cy="1828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516368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8174736" y="6016752"/>
            <a:ext cx="603504" cy="182880"/>
          </a:xfrm>
          <a:prstGeom prst="rect">
            <a:avLst/>
          </a:prstGeom>
          <a:solidFill>
            <a:srgbClr val="6E7B8B"/>
          </a:solidFill>
          <a:ln w="12700">
            <a:solidFill>
              <a:srgbClr val="6E7B8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174736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9116568" y="5449824"/>
            <a:ext cx="2816352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0" name="Text 118"/>
          <p:cNvSpPr/>
          <p:nvPr/>
        </p:nvSpPr>
        <p:spPr>
          <a:xfrm>
            <a:off x="9116568" y="5449824"/>
            <a:ext cx="2816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POST-MIGRATION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9171432" y="6016752"/>
            <a:ext cx="603504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171432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</a:t>
            </a:r>
            <a:pPr algn="ctr" indent="0" marL="0">
              <a:buNone/>
            </a:pPr>
            <a:r>
              <a:rPr lang="en-US" sz="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Hypercare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9829800" y="6016752"/>
            <a:ext cx="603504" cy="182880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829800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10488168" y="6016752"/>
            <a:ext cx="603504" cy="1828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88168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11146536" y="6016752"/>
            <a:ext cx="603504" cy="18288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1146536" y="601675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pPr algn="ctr" indent="0" marL="0">
              <a:buNone/>
            </a:pPr>
            <a:r>
              <a:rPr lang="en-US" sz="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Now active!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91729"/>
          </a:solidFill>
          <a:ln w="12700">
            <a:solidFill>
              <a:srgbClr val="091729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82880" y="6656832"/>
            <a:ext cx="1179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4A7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pills = team not engaged in this phase  ·  EBI acts as coordination hub across ALL phases  ·  SRE is engaged ONLY after go-live cutover  ·  Automated scripts replace 97% of manual HCL effort — business touchpoints are gate reviews only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9710928" y="73152"/>
            <a:ext cx="2286000" cy="530352"/>
          </a:xfrm>
          <a:prstGeom prst="rect">
            <a:avLst/>
          </a:prstGeom>
          <a:solidFill>
            <a:srgbClr val="1A2A44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710928" y="73152"/>
            <a:ext cx="2286000" cy="530352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Automated Toolkit
</a:t>
            </a:r>
            <a:pPr algn="ctr" indent="0" marL="0">
              <a:buNone/>
            </a:pPr>
            <a:r>
              <a:rPr lang="en-US" sz="700" i="1" dirty="0">
                <a:solidFill>
                  <a:srgbClr val="B3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replace 97% of manual effort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2026-04-16T02:38:32Z</dcterms:created>
  <dcterms:modified xsi:type="dcterms:W3CDTF">2026-04-16T02:38:32Z</dcterms:modified>
</cp:coreProperties>
</file>