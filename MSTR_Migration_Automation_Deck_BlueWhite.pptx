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369A1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Automated by EBI &amp; HCL</c:v>
                </c:pt>
                <c:pt idx="1">
                  <c:v>Your Team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97</c:v>
                </c:pt>
                <c:pt idx="1">
                  <c:v>3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AE6F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4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44784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92256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39728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7312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44784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2256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39728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97312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4784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92256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39728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97312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92256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39728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7312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44784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92256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9728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 ·   MSTR CLOUD MIGRATION   ·  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8046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Effort.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41148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Confidence.</a:t>
            </a:r>
            <a:endParaRPr lang="en-US" sz="6400" dirty="0"/>
          </a:p>
        </p:txBody>
      </p:sp>
      <p:sp>
        <p:nvSpPr>
          <p:cNvPr id="31" name="Shape 29"/>
          <p:cNvSpPr/>
          <p:nvPr/>
        </p:nvSpPr>
        <p:spPr>
          <a:xfrm>
            <a:off x="411480" y="3035808"/>
            <a:ext cx="4572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00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EBI's 13-Script Automated Toolkit Migrates All 7 MSTR Instances to Cloud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asks less than 3 hours of your team's time.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11480" y="5897880"/>
            <a:ext cx="2834640" cy="475488"/>
          </a:xfrm>
          <a:prstGeom prst="rect">
            <a:avLst/>
          </a:prstGeom>
          <a:solidFill>
            <a:srgbClr val="0369A1">
              <a:alpha val="8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897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DISCOVERY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0" y="5897880"/>
            <a:ext cx="2834640" cy="475488"/>
          </a:xfrm>
          <a:prstGeom prst="rect">
            <a:avLst/>
          </a:prstGeom>
          <a:solidFill>
            <a:srgbClr val="1E3A8A">
              <a:alpha val="8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5897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MIGRATION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37960" y="5897880"/>
            <a:ext cx="2834640" cy="475488"/>
          </a:xfrm>
          <a:prstGeom prst="rect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897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VALIDATION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418320" y="6583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EBI INTERNAL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Traditional MSTR Migration Looks Like — and Why That Changes 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1430000" cy="2743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303520" cy="5394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74520" y="1499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for a large instance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408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7452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consultants, QA analysts, writers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90672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186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436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74520" y="3255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 before go-live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968496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96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7452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consulting and QA costs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9743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" y="5358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74520" y="5010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validation, diff, sign-off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0" y="30175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492240" y="914400"/>
            <a:ext cx="5303520" cy="5394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914400"/>
            <a:ext cx="530352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91440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EBI AUTOMATED WAY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2084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01000" y="1499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execution, any instance size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20840" y="2212848"/>
            <a:ext cx="475488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3408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72084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0100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+ EBI only — no consultants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20840" y="3090672"/>
            <a:ext cx="475488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32186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2084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01000" y="3255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 to full certification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720840" y="3968496"/>
            <a:ext cx="475488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4096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72084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0100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consulting or QA spend needed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720840" y="4846320"/>
            <a:ext cx="475488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49743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720840" y="5358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01000" y="5010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scripts cover discovery to sign-off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1535"/>
          </a:solidFill>
          <a:ln w="12700">
            <a:solidFill>
              <a:srgbClr val="0A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Automated Tools.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Phases. Zero Manual Discovery.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" y="1143000"/>
            <a:ext cx="11686032" cy="256032"/>
          </a:xfrm>
          <a:prstGeom prst="rect">
            <a:avLst/>
          </a:prstGeom>
          <a:solidFill>
            <a:srgbClr val="0369A1">
              <a:alpha val="8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38944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" y="143560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435608"/>
            <a:ext cx="2852928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mstr_harvester.py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21 CSVs from any 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43560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35608"/>
            <a:ext cx="2852928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mstr_connectivity_tester.py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DB connections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3560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35608"/>
            <a:ext cx="2852928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fetch_mstr_datasources.scp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36208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Citrix: list all DSNs for ACL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70848" y="143560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0848" y="1435608"/>
            <a:ext cx="2852928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build_acl_request.ps1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0576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resolve all IPs to CSV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" y="2606040"/>
            <a:ext cx="11686032" cy="256032"/>
          </a:xfrm>
          <a:prstGeom prst="rect">
            <a:avLst/>
          </a:prstGeom>
          <a:solidFill>
            <a:srgbClr val="1E3A8A">
              <a:alpha val="8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606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MIGRATION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838944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" y="2898648"/>
            <a:ext cx="2264054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" y="2898648"/>
            <a:ext cx="2264054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mstr_package_migrator.py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+ import projects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93238" y="2898648"/>
            <a:ext cx="2264054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93238" y="2898648"/>
            <a:ext cx="2264054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2966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mstr_user_migrator.py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02966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users, groups, memberships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48733" y="2898648"/>
            <a:ext cx="2264054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48733" y="2898648"/>
            <a:ext cx="2264054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8461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mstr_db_connection_creator.py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58461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+ IS-side test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04227" y="2898648"/>
            <a:ext cx="2264054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04227" y="2898648"/>
            <a:ext cx="2264054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13955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extended_command_manager.scp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13955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VLDB, schedules, security filters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659722" y="2898648"/>
            <a:ext cx="2264054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59722" y="2898648"/>
            <a:ext cx="2264054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69450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mstr_cache_warmer.py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769450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caches before go-live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7744" y="4069080"/>
            <a:ext cx="11686032" cy="256032"/>
          </a:xfrm>
          <a:prstGeom prst="rect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VALIDATION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838944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7744" y="436168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" y="436168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mstr_report_validator.py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47472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+ compare all reports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82112" y="436168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82112" y="436168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mstr_validator.py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91840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on-prem vs cloud metadata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436168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436168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full_validation_runner.py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36208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all Phase 3 steps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70848" y="4361688"/>
            <a:ext cx="2852928" cy="1060704"/>
          </a:xfrm>
          <a:prstGeom prst="rect">
            <a:avLst/>
          </a:prstGeom>
          <a:solidFill>
            <a:srgbClr val="0A1535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70848" y="436168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80576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mstr_command_manager.scp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180576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validation ops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64008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scripts run from your laptop via HTTPS — no shell access to the cloud IS required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029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Involvement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entire 7-instance migration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3657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0" y="502920"/>
            <a:ext cx="3566160" cy="877824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502920"/>
            <a:ext cx="54864" cy="87782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5577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51960" y="960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IS credentials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557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0" y="1508760"/>
            <a:ext cx="3566160" cy="877824"/>
          </a:xfrm>
          <a:prstGeom prst="rect">
            <a:avLst/>
          </a:prstGeom>
          <a:solidFill>
            <a:srgbClr val="0A15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508760"/>
            <a:ext cx="54864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5636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51960" y="1965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prompt-value call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563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0" y="2514600"/>
            <a:ext cx="3566160" cy="877824"/>
          </a:xfrm>
          <a:prstGeom prst="rect">
            <a:avLst/>
          </a:prstGeom>
          <a:solidFill>
            <a:srgbClr val="0A153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514600"/>
            <a:ext cx="54864" cy="8778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569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51960" y="2971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validation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2569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0" y="3520440"/>
            <a:ext cx="3566160" cy="877824"/>
          </a:xfrm>
          <a:prstGeom prst="rect">
            <a:avLst/>
          </a:prstGeom>
          <a:solidFill>
            <a:srgbClr val="0A153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3520440"/>
            <a:ext cx="54864" cy="8778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5753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51960" y="3977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approval email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3575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955280" y="457200"/>
          <a:ext cx="3931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7955280" y="4480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all work is handled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— by the toolkit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0" y="6236208"/>
            <a:ext cx="12161520" cy="393192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626364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traditional migration of a medium MSTR instance requires 250+ hours and 5 people over 8 weeks. EBI's toolkit compresses this to &lt; 4 hours of script execution.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629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DISCOVERY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100%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runs one script. 21 CSVs come out. Your team does nothing.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28800"/>
            <a:ext cx="365760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Script Does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2331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IS via HTTPS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907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Harvests all reports, users, groups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8386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DB connection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40599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schedules &amp; subscriptions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4636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LDAP/SAML/SMTP 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server inventory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62272" y="2331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CSV files — complete metadata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62272" y="2907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SUMMARY_REPORT.txt — risk flags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62272" y="348386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inventory for ACL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62272" y="40599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for cleanup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62272" y="4636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subscription map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62272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input for risk matrix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388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1828800"/>
            <a:ext cx="36576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48472" y="2331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IS hostname and credentials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48472" y="2907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48472" y="40599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inventory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48472" y="4636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consultant needed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48472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documentation effort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66960" y="256032"/>
            <a:ext cx="1920240" cy="12984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966960" y="274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35" name="Text 33"/>
          <p:cNvSpPr/>
          <p:nvPr/>
        </p:nvSpPr>
        <p:spPr>
          <a:xfrm>
            <a:off x="996696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629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MIGRATION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Migration: 95%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 run sequentially. EBI owns execution. Your team provides credentials once.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55648"/>
            <a:ext cx="3383280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Import Packages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objects project by project via REST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86868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468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77640" y="175564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77640" y="1755648"/>
            <a:ext cx="3383280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920240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1883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Users &amp; Groups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42232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Bulk-create all users, groups, memberships from CSVs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2468880"/>
            <a:ext cx="86868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468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89520" y="175564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755648"/>
            <a:ext cx="3383280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1920240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1883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DB Connections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54112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every datasource; test connectivity from 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66960" y="2468880"/>
            <a:ext cx="86868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2468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48840" y="292608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48840" y="2926080"/>
            <a:ext cx="3383280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090672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97480" y="30540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 + Schedules + Security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313432" y="3456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apply via Command Manager from Citrix server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3639312"/>
            <a:ext cx="86868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6393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60720" y="292608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2926080"/>
            <a:ext cx="3383280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3090672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0540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Report Cache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25312" y="3456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top-N reports so users see fast loads on day 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3639312"/>
            <a:ext cx="86868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6393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4160520"/>
            <a:ext cx="11430000" cy="141732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416052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251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Does in Phase 2: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" y="4572000"/>
            <a:ext cx="11064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IS hostname, admin credentials, and DB datasource passwords once (via a secure YAML config file).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your reports have prompted inputs (filters/parameters), join a 30-minute call to confirm the correct values — then we pre-configure everything. No further involvement in Phase 2.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966960" y="256032"/>
            <a:ext cx="1920240" cy="12984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966960" y="274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53" name="Text 51"/>
          <p:cNvSpPr/>
          <p:nvPr/>
        </p:nvSpPr>
        <p:spPr>
          <a:xfrm>
            <a:off x="996696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629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90%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executed, compared, and scored. You receive a ready-to-sign dashboard.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automatically: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12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194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every report + dossier on source AND cloud 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807208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788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row counts, column schemas, and data hashes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01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383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every mismatch with exact failure reason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995928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977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subscription emails to EBI test mailbox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590288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90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HTML dashboard + CSV with pass/fail per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5184648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184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5166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MASTER_VALIDATION_REPORT.txt for sign-off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691640"/>
            <a:ext cx="598932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691640"/>
            <a:ext cx="598932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69164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 Report Validation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9788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9788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6092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6092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831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6092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2396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2396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82396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28700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28700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028700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97880" y="3182112"/>
            <a:ext cx="57607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3182112"/>
            <a:ext cx="5651266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6440" y="3429000"/>
            <a:ext cx="59436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343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19672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Name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348472" y="343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✓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988552" y="34381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✓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720072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Reason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806440" y="3730752"/>
            <a:ext cx="5943600" cy="3931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9592" y="37673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519672" y="376732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Q1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348472" y="37673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988552" y="376732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720072" y="376732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806440" y="4151376"/>
            <a:ext cx="5943600" cy="3931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79592" y="41879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519672" y="418795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 Summary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348472" y="41879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988552" y="418795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720072" y="418795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806440" y="4572000"/>
            <a:ext cx="5943600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79592" y="460857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519672" y="460857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Headcount Report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48472" y="460857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988552" y="4608576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720072" y="460857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count: 4,021 vs 4,019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806440" y="4992624"/>
            <a:ext cx="5943600" cy="3931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79592" y="5029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519672" y="5029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Analysis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348472" y="5029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988552" y="502920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720072" y="5029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966960" y="256032"/>
            <a:ext cx="1920240" cy="12984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966960" y="274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</a:t>
            </a:r>
            <a:endParaRPr lang="en-US" sz="4600" dirty="0"/>
          </a:p>
        </p:txBody>
      </p:sp>
      <p:sp>
        <p:nvSpPr>
          <p:cNvPr id="75" name="Text 73"/>
          <p:cNvSpPr/>
          <p:nvPr/>
        </p:nvSpPr>
        <p:spPr>
          <a:xfrm>
            <a:off x="996696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TO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SIGN OFF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Map — Every Team, Every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answer the funding question.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91840" y="1078992"/>
            <a:ext cx="192024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94960" y="1078992"/>
            <a:ext cx="1920240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0" y="1078992"/>
            <a:ext cx="1920240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0" y="1078992"/>
            <a:ext cx="1920240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2880360" cy="51206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789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627632"/>
            <a:ext cx="11521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627632"/>
            <a:ext cx="28803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all migration execution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2194560"/>
            <a:ext cx="987552" cy="1280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53212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2194560"/>
            <a:ext cx="1399032" cy="1280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63524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194560"/>
            <a:ext cx="1152144" cy="128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73836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2194560"/>
            <a:ext cx="1185062" cy="1280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20040" y="2724912"/>
            <a:ext cx="11521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724912"/>
            <a:ext cx="28803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Team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3273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scripts, owns validation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3291840"/>
            <a:ext cx="658368" cy="1280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53212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3291840"/>
            <a:ext cx="1069848" cy="1280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763524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3291840"/>
            <a:ext cx="905256" cy="128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973836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38360" y="3291840"/>
            <a:ext cx="872338" cy="1280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320040" y="3822192"/>
            <a:ext cx="115214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822192"/>
            <a:ext cx="2880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822192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Inst. Teams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5488" y="4370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+ 1 call + sign-off only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2900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53212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32120" y="4389120"/>
            <a:ext cx="32918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600" dirty="0"/>
          </a:p>
        </p:txBody>
      </p:sp>
      <p:sp>
        <p:nvSpPr>
          <p:cNvPr id="56" name="Shape 54"/>
          <p:cNvSpPr/>
          <p:nvPr/>
        </p:nvSpPr>
        <p:spPr>
          <a:xfrm>
            <a:off x="763524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4389120"/>
            <a:ext cx="131674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973836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38360" y="4389120"/>
            <a:ext cx="49378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264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600" dirty="0"/>
          </a:p>
        </p:txBody>
      </p:sp>
      <p:sp>
        <p:nvSpPr>
          <p:cNvPr id="62" name="Shape 60"/>
          <p:cNvSpPr/>
          <p:nvPr/>
        </p:nvSpPr>
        <p:spPr>
          <a:xfrm>
            <a:off x="320040" y="4919472"/>
            <a:ext cx="115214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4919472"/>
            <a:ext cx="28803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992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Team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75488" y="5468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engaged until Phase 4 (post go-live)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2900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8328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553212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70" name="Shape 68"/>
          <p:cNvSpPr/>
          <p:nvPr/>
        </p:nvSpPr>
        <p:spPr>
          <a:xfrm>
            <a:off x="763524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973836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9264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320040" y="5138928"/>
            <a:ext cx="11521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516636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Business / Instance Teams: 3% overall effort  ·  0 hrs in Phase 1  ·  1 hr in Phase 2  ·  &lt; 2 hrs in Phase 3  ·  Total: less than half a working day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Each Instance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things. That's the entire ask.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11247120" cy="1417320"/>
          </a:xfrm>
          <a:prstGeom prst="rect">
            <a:avLst/>
          </a:prstGeom>
          <a:solidFill>
            <a:srgbClr val="0A1535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9344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9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72768" y="14996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Access Credentials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190195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Hostname, admin username, admin password, and datasource DB passwords.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once via a secure config file — never shared beyond EBI.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149840" y="1673352"/>
            <a:ext cx="1371600" cy="713232"/>
          </a:xfrm>
          <a:prstGeom prst="rect">
            <a:avLst/>
          </a:prstGeom>
          <a:solidFill>
            <a:srgbClr val="0369A1">
              <a:alpha val="8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6733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49840" y="2066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1247120" cy="1417320"/>
          </a:xfrm>
          <a:prstGeom prst="rect">
            <a:avLst/>
          </a:prstGeom>
          <a:solidFill>
            <a:srgbClr val="0A153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82112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82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72768" y="30723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60-Minute 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72768" y="347472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reports with prompted inputs (date filters, region selectors, etc.): confirm the correct parameter values to pre-configure.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once. Saved in config. Never needed again.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49840" y="3246120"/>
            <a:ext cx="1371600" cy="7132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3246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49840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498848"/>
            <a:ext cx="11247120" cy="1417320"/>
          </a:xfrm>
          <a:prstGeom prst="rect">
            <a:avLst/>
          </a:prstGeom>
          <a:solidFill>
            <a:srgbClr val="0A1535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7548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54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72768" y="46451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Sign-Off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72768" y="504748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validation dashboard (emailed to you). Review your instance's pass rate.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approval email. 90-second job if the dashboard is green.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49840" y="4818888"/>
            <a:ext cx="1371600" cy="713232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4818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5212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6190488"/>
            <a:ext cx="11247120" cy="411480"/>
          </a:xfrm>
          <a:prstGeom prst="rect">
            <a:avLst/>
          </a:prstGeom>
          <a:solidFill>
            <a:srgbClr val="0369A1">
              <a:alpha val="8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discovery, migration, validation, reporting, sign-off documentation — is handled by EBI.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&amp; Time Impact — Per Instance, Across All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2743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24912" cy="1463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(medium instance)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18688" y="914400"/>
            <a:ext cx="2724912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10128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instance size)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1616" y="914400"/>
            <a:ext cx="2724912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63056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costs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per instance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24544" y="914400"/>
            <a:ext cx="2724912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984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15984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ACROSS ALL 7 INSTANCES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272491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$266,000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$38K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2450592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costs eliminated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3017520"/>
            <a:ext cx="2724912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1,750 hrs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10128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250 hrs (medium estimate)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4206240"/>
            <a:ext cx="2450592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 removed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3017520"/>
            <a:ext cx="2724912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weeks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63056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40 hrs/week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08776" y="4206240"/>
            <a:ext cx="2450592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weeks reclaimed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24544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24544" y="3017520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15984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21 hrs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015984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hrs × 7 instances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61704" y="4206240"/>
            <a:ext cx="2450592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15984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 hours required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5138928"/>
            <a:ext cx="114300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175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$70/hr developer rate: 7 instances automated = $122,500 in recovered developer capacity. Enough to fund one full developer for nearly two years.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Timeline — When Your Team Is Involved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markers show every touchpoint where an instance team is needed.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3063240"/>
            <a:ext cx="111556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78992"/>
            <a:ext cx="3123590" cy="4206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123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61181" y="1078992"/>
            <a:ext cx="4239158" cy="42062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61181" y="1078992"/>
            <a:ext cx="42391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MIGRATION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35010" y="1078992"/>
            <a:ext cx="3123590" cy="4206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5010" y="1078992"/>
            <a:ext cx="3123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VALIDATION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6336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0304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13760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7728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01184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88608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2576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76032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0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363456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7424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850880" y="299923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94848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6306" y="2953512"/>
            <a:ext cx="219456" cy="219456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746" y="2377440"/>
            <a:ext cx="36576" cy="576072"/>
          </a:xfrm>
          <a:prstGeom prst="rect">
            <a:avLst/>
          </a:prstGeom>
          <a:solidFill>
            <a:srgbClr val="0369A1">
              <a:alpha val="60000"/>
            </a:srgbClr>
          </a:solidFill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674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Harvester runs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7 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54987" y="2953512"/>
            <a:ext cx="219456" cy="219456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46427" y="1874520"/>
            <a:ext cx="36576" cy="1078992"/>
          </a:xfrm>
          <a:prstGeom prst="rect">
            <a:avLst/>
          </a:prstGeom>
          <a:solidFill>
            <a:srgbClr val="0369A1">
              <a:alpha val="60000"/>
            </a:srgbClr>
          </a:solidFill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70355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requests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39896" y="2953512"/>
            <a:ext cx="219456" cy="21945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31336" y="2377440"/>
            <a:ext cx="36576" cy="576072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78578" y="2953512"/>
            <a:ext cx="219456" cy="21945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70018" y="1874520"/>
            <a:ext cx="36576" cy="1078992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3946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groups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17259" y="2953512"/>
            <a:ext cx="219456" cy="21945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8699" y="2377440"/>
            <a:ext cx="36576" cy="576072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32627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from 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67498" y="2953512"/>
            <a:ext cx="219456" cy="21945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58938" y="1874520"/>
            <a:ext cx="36576" cy="1078992"/>
          </a:xfrm>
          <a:prstGeom prst="rect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2866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48395" y="2953512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39835" y="2377440"/>
            <a:ext cx="36576" cy="576072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3763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executed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both sides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210190" y="2953512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01630" y="1874520"/>
            <a:ext cx="36576" cy="1078992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5558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325758" y="2953512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17198" y="2377440"/>
            <a:ext cx="36576" cy="576072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41126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Go-live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53973" y="3154680"/>
            <a:ext cx="36576" cy="54864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2533" y="3685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1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Provide 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08222" y="3154680"/>
            <a:ext cx="36576" cy="54864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16782" y="3685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8643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Prompt-value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(60 min)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747858" y="3154680"/>
            <a:ext cx="36576" cy="54864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56418" y="3685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26066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Review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sign off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02920" y="6035040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6016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/ HCL automated milestone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931920" y="603504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78808" y="6016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team touchpoint (3 total)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44784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92256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39728" y="320040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7312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44784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2256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39728" y="667512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97312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4784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92256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39728" y="1014984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97312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92256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39728" y="1362456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7312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44784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92256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9728" y="1709928"/>
            <a:ext cx="118872" cy="1188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200"/>
            <a:ext cx="9144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is ready.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built.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is automated.</a:t>
            </a:r>
            <a:endParaRPr lang="en-US" sz="380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5029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one thing from you: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3566160"/>
            <a:ext cx="9144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process.</a:t>
            </a:r>
            <a:endParaRPr lang="en-US" sz="44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2926080" cy="1325880"/>
          </a:xfrm>
          <a:prstGeom prst="rect">
            <a:avLst/>
          </a:prstGeom>
          <a:solidFill>
            <a:srgbClr val="0A1535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617720"/>
            <a:ext cx="292608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4617720"/>
            <a:ext cx="2926080" cy="1325880"/>
          </a:xfrm>
          <a:prstGeom prst="rect">
            <a:avLst/>
          </a:prstGeom>
          <a:solidFill>
            <a:srgbClr val="0A153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4617720"/>
            <a:ext cx="29260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7490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time only)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4617720"/>
            <a:ext cx="2926080" cy="1325880"/>
          </a:xfrm>
          <a:prstGeom prst="rect">
            <a:avLst/>
          </a:prstGeom>
          <a:solidFill>
            <a:srgbClr val="0A1535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4617720"/>
            <a:ext cx="2926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94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2 hours)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EBI Team:  pranay136@gmail.com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MSTR Migration — Zero Effort. Total Confidence.</dc:title>
  <dc:subject>Stakeholder buy-in deck — 7 instance automation</dc:subject>
  <dc:creator>EBI Team</dc:creator>
  <cp:lastModifiedBy>EBI Team</cp:lastModifiedBy>
  <cp:revision>1</cp:revision>
  <dcterms:created xsi:type="dcterms:W3CDTF">2026-04-19T11:47:50Z</dcterms:created>
  <dcterms:modified xsi:type="dcterms:W3CDTF">2026-04-19T11:47:50Z</dcterms:modified>
</cp:coreProperties>
</file>