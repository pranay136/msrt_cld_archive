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Effort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7490"/>
              </a:solidFill>
              <a:effectLst/>
            </c:spPr>
          </c:dPt>
          <c:dPt>
            <c:idx val="1"/>
            <c:bubble3D val="0"/>
            <c:spPr>
              <a:solidFill>
                <a:srgbClr val="D9770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Automated by EBI &amp; HCL</c:v>
                </c:pt>
                <c:pt idx="1">
                  <c:v>Your Team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97</c:v>
                </c:pt>
                <c:pt idx="1">
                  <c:v>3</c:v>
                </c:pt>
              </c:numCache>
            </c:numRef>
          </c:val>
        </c:ser>
        <c:firstSliceAng val="0"/>
        <c:holeSize val="6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8FB8CC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B1E33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49840" y="320040"/>
            <a:ext cx="118872" cy="118872"/>
          </a:xfrm>
          <a:prstGeom prst="ellipse">
            <a:avLst/>
          </a:prstGeom>
          <a:solidFill>
            <a:srgbClr val="22D3EE">
              <a:alpha val="30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97312" y="320040"/>
            <a:ext cx="118872" cy="118872"/>
          </a:xfrm>
          <a:prstGeom prst="ellipse">
            <a:avLst/>
          </a:prstGeom>
          <a:solidFill>
            <a:srgbClr val="22D3EE">
              <a:alpha val="30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44784" y="320040"/>
            <a:ext cx="118872" cy="118872"/>
          </a:xfrm>
          <a:prstGeom prst="ellipse">
            <a:avLst/>
          </a:prstGeom>
          <a:solidFill>
            <a:srgbClr val="22D3EE">
              <a:alpha val="30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92256" y="320040"/>
            <a:ext cx="118872" cy="118872"/>
          </a:xfrm>
          <a:prstGeom prst="ellipse">
            <a:avLst/>
          </a:prstGeom>
          <a:solidFill>
            <a:srgbClr val="22D3EE">
              <a:alpha val="30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39728" y="320040"/>
            <a:ext cx="118872" cy="118872"/>
          </a:xfrm>
          <a:prstGeom prst="ellipse">
            <a:avLst/>
          </a:prstGeom>
          <a:solidFill>
            <a:srgbClr val="22D3EE">
              <a:alpha val="30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49840" y="667512"/>
            <a:ext cx="118872" cy="118872"/>
          </a:xfrm>
          <a:prstGeom prst="ellipse">
            <a:avLst/>
          </a:prstGeom>
          <a:solidFill>
            <a:srgbClr val="22D3EE">
              <a:alpha val="30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97312" y="667512"/>
            <a:ext cx="118872" cy="118872"/>
          </a:xfrm>
          <a:prstGeom prst="ellipse">
            <a:avLst/>
          </a:prstGeom>
          <a:solidFill>
            <a:srgbClr val="22D3EE">
              <a:alpha val="30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44784" y="667512"/>
            <a:ext cx="118872" cy="118872"/>
          </a:xfrm>
          <a:prstGeom prst="ellipse">
            <a:avLst/>
          </a:prstGeom>
          <a:solidFill>
            <a:srgbClr val="22D3EE">
              <a:alpha val="30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92256" y="667512"/>
            <a:ext cx="118872" cy="118872"/>
          </a:xfrm>
          <a:prstGeom prst="ellipse">
            <a:avLst/>
          </a:prstGeom>
          <a:solidFill>
            <a:srgbClr val="22D3EE">
              <a:alpha val="30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539728" y="667512"/>
            <a:ext cx="118872" cy="118872"/>
          </a:xfrm>
          <a:prstGeom prst="ellipse">
            <a:avLst/>
          </a:prstGeom>
          <a:solidFill>
            <a:srgbClr val="22D3EE">
              <a:alpha val="30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149840" y="1014984"/>
            <a:ext cx="118872" cy="118872"/>
          </a:xfrm>
          <a:prstGeom prst="ellipse">
            <a:avLst/>
          </a:prstGeom>
          <a:solidFill>
            <a:srgbClr val="22D3EE">
              <a:alpha val="30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497312" y="1014984"/>
            <a:ext cx="118872" cy="118872"/>
          </a:xfrm>
          <a:prstGeom prst="ellipse">
            <a:avLst/>
          </a:prstGeom>
          <a:solidFill>
            <a:srgbClr val="22D3EE">
              <a:alpha val="30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844784" y="1014984"/>
            <a:ext cx="118872" cy="118872"/>
          </a:xfrm>
          <a:prstGeom prst="ellipse">
            <a:avLst/>
          </a:prstGeom>
          <a:solidFill>
            <a:srgbClr val="22D3EE">
              <a:alpha val="30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92256" y="1014984"/>
            <a:ext cx="118872" cy="118872"/>
          </a:xfrm>
          <a:prstGeom prst="ellipse">
            <a:avLst/>
          </a:prstGeom>
          <a:solidFill>
            <a:srgbClr val="22D3EE">
              <a:alpha val="30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539728" y="1014984"/>
            <a:ext cx="118872" cy="118872"/>
          </a:xfrm>
          <a:prstGeom prst="ellipse">
            <a:avLst/>
          </a:prstGeom>
          <a:solidFill>
            <a:srgbClr val="22D3EE">
              <a:alpha val="30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49840" y="1362456"/>
            <a:ext cx="118872" cy="118872"/>
          </a:xfrm>
          <a:prstGeom prst="ellipse">
            <a:avLst/>
          </a:prstGeom>
          <a:solidFill>
            <a:srgbClr val="22D3EE">
              <a:alpha val="30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497312" y="1362456"/>
            <a:ext cx="118872" cy="118872"/>
          </a:xfrm>
          <a:prstGeom prst="ellipse">
            <a:avLst/>
          </a:prstGeom>
          <a:solidFill>
            <a:srgbClr val="22D3EE">
              <a:alpha val="30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44784" y="1362456"/>
            <a:ext cx="118872" cy="118872"/>
          </a:xfrm>
          <a:prstGeom prst="ellipse">
            <a:avLst/>
          </a:prstGeom>
          <a:solidFill>
            <a:srgbClr val="22D3EE">
              <a:alpha val="30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192256" y="1362456"/>
            <a:ext cx="118872" cy="118872"/>
          </a:xfrm>
          <a:prstGeom prst="ellipse">
            <a:avLst/>
          </a:prstGeom>
          <a:solidFill>
            <a:srgbClr val="22D3EE">
              <a:alpha val="30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539728" y="1362456"/>
            <a:ext cx="118872" cy="118872"/>
          </a:xfrm>
          <a:prstGeom prst="ellipse">
            <a:avLst/>
          </a:prstGeom>
          <a:solidFill>
            <a:srgbClr val="22D3EE">
              <a:alpha val="30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149840" y="1709928"/>
            <a:ext cx="118872" cy="118872"/>
          </a:xfrm>
          <a:prstGeom prst="ellipse">
            <a:avLst/>
          </a:prstGeom>
          <a:solidFill>
            <a:srgbClr val="22D3EE">
              <a:alpha val="30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497312" y="1709928"/>
            <a:ext cx="118872" cy="118872"/>
          </a:xfrm>
          <a:prstGeom prst="ellipse">
            <a:avLst/>
          </a:prstGeom>
          <a:solidFill>
            <a:srgbClr val="22D3EE">
              <a:alpha val="30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844784" y="1709928"/>
            <a:ext cx="118872" cy="118872"/>
          </a:xfrm>
          <a:prstGeom prst="ellipse">
            <a:avLst/>
          </a:prstGeom>
          <a:solidFill>
            <a:srgbClr val="22D3EE">
              <a:alpha val="30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192256" y="1709928"/>
            <a:ext cx="118872" cy="118872"/>
          </a:xfrm>
          <a:prstGeom prst="ellipse">
            <a:avLst/>
          </a:prstGeom>
          <a:solidFill>
            <a:srgbClr val="22D3EE">
              <a:alpha val="30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539728" y="1709928"/>
            <a:ext cx="118872" cy="118872"/>
          </a:xfrm>
          <a:prstGeom prst="ellipse">
            <a:avLst/>
          </a:prstGeom>
          <a:solidFill>
            <a:srgbClr val="22D3EE">
              <a:alpha val="30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 TEAM   ·   MSTR CLOUD MIGRATION   ·  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11480" y="804672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Effort.</a:t>
            </a:r>
            <a:endParaRPr lang="en-US" sz="6400" dirty="0"/>
          </a:p>
        </p:txBody>
      </p:sp>
      <p:sp>
        <p:nvSpPr>
          <p:cNvPr id="30" name="Text 28"/>
          <p:cNvSpPr/>
          <p:nvPr/>
        </p:nvSpPr>
        <p:spPr>
          <a:xfrm>
            <a:off x="411480" y="18288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Confidence.</a:t>
            </a:r>
            <a:endParaRPr lang="en-US" sz="6400" dirty="0"/>
          </a:p>
        </p:txBody>
      </p:sp>
      <p:sp>
        <p:nvSpPr>
          <p:cNvPr id="31" name="Shape 29"/>
          <p:cNvSpPr/>
          <p:nvPr/>
        </p:nvSpPr>
        <p:spPr>
          <a:xfrm>
            <a:off x="411480" y="3035808"/>
            <a:ext cx="4572000" cy="457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20040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EBI's 13-Script Automated Toolkit Migrates All 7 MSTR Instances to Cloud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and asks less than 3 hours of your team's time.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11480" y="5897880"/>
            <a:ext cx="2834640" cy="475488"/>
          </a:xfrm>
          <a:prstGeom prst="rect">
            <a:avLst/>
          </a:prstGeom>
          <a:solidFill>
            <a:srgbClr val="0E7490">
              <a:alpha val="75000"/>
            </a:srgbClr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589788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DISCOVERY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474720" y="5897880"/>
            <a:ext cx="2834640" cy="475488"/>
          </a:xfrm>
          <a:prstGeom prst="rect">
            <a:avLst/>
          </a:prstGeom>
          <a:solidFill>
            <a:srgbClr val="6D28D9">
              <a:alpha val="75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0" y="589788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MIGRATION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537960" y="5897880"/>
            <a:ext cx="2834640" cy="475488"/>
          </a:xfrm>
          <a:prstGeom prst="rect">
            <a:avLst/>
          </a:prstGeom>
          <a:solidFill>
            <a:srgbClr val="047857">
              <a:alpha val="75000"/>
            </a:srgbClr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37960" y="589788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VALIDATION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418320" y="658368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EBI INTERNAL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Traditional MSTR Migration Looks Like — and Why That Changes Now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1143000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5303520" cy="5394960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5303520" cy="420624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5303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WAY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474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4360" y="18470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874520" y="149961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effort for a large instance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" y="2212848"/>
            <a:ext cx="4754880" cy="18288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40864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5–6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94360" y="27249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874520" y="23774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consultants, QA analysts, writers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3090672"/>
            <a:ext cx="4754880" cy="18288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21868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94360" y="360273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874520" y="325526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time before go-live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4360" y="3968496"/>
            <a:ext cx="4754880" cy="18288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09651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$38K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94360" y="44805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INST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874520" y="41330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consulting and QA costs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4360" y="4846320"/>
            <a:ext cx="4754880" cy="18288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974336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94360" y="535838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874520" y="501091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discovery, validation, diff, sign-off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833872" y="3246120"/>
            <a:ext cx="502920" cy="3657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0" y="3017520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8" name="Shape 26"/>
          <p:cNvSpPr/>
          <p:nvPr/>
        </p:nvSpPr>
        <p:spPr>
          <a:xfrm>
            <a:off x="6492240" y="914400"/>
            <a:ext cx="5303520" cy="539496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92240" y="914400"/>
            <a:ext cx="5303520" cy="4206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914400"/>
            <a:ext cx="5303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EBI AUTOMATED WAY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720840" y="1463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720840" y="18470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001000" y="149961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execution, any instance size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720840" y="2212848"/>
            <a:ext cx="4754880" cy="18288"/>
          </a:xfrm>
          <a:prstGeom prst="rect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20840" y="2340864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6720840" y="27249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001000" y="23774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 + EBI only — no consultants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720840" y="3090672"/>
            <a:ext cx="4754880" cy="18288"/>
          </a:xfrm>
          <a:prstGeom prst="rect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20840" y="321868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6720840" y="360273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001000" y="325526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time to full certification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720840" y="3968496"/>
            <a:ext cx="4754880" cy="18288"/>
          </a:xfrm>
          <a:prstGeom prst="rect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20840" y="409651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2800" dirty="0"/>
          </a:p>
        </p:txBody>
      </p:sp>
      <p:sp>
        <p:nvSpPr>
          <p:cNvPr id="44" name="Text 42"/>
          <p:cNvSpPr/>
          <p:nvPr/>
        </p:nvSpPr>
        <p:spPr>
          <a:xfrm>
            <a:off x="6720840" y="44805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001000" y="41330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consulting or QA spend needed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720840" y="4846320"/>
            <a:ext cx="4754880" cy="18288"/>
          </a:xfrm>
          <a:prstGeom prst="rect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20840" y="4974336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2800" dirty="0"/>
          </a:p>
        </p:txBody>
      </p:sp>
      <p:sp>
        <p:nvSpPr>
          <p:cNvPr id="48" name="Text 46"/>
          <p:cNvSpPr/>
          <p:nvPr/>
        </p:nvSpPr>
        <p:spPr>
          <a:xfrm>
            <a:off x="6720840" y="535838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001000" y="501091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scripts cover discovery to sign-off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B1E33"/>
          </a:solidFill>
          <a:ln w="12700">
            <a:solidFill>
              <a:srgbClr val="0B1E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" y="66294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 Team  ·  MSTR Cloud Migration  ·  Confidential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112536"/>
          </a:solidFill>
          <a:ln w="12700">
            <a:solidFill>
              <a:srgbClr val="1125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Automated Tools.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Phases. Zero Manual Discovery.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37744" y="1143000"/>
            <a:ext cx="11686032" cy="256032"/>
          </a:xfrm>
          <a:prstGeom prst="rect">
            <a:avLst/>
          </a:prstGeom>
          <a:solidFill>
            <a:srgbClr val="0E7490">
              <a:alpha val="85000"/>
            </a:srgbClr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" y="11430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DISCOVERY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38944" y="11430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scripts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37744" y="1435608"/>
            <a:ext cx="2852928" cy="1060704"/>
          </a:xfrm>
          <a:prstGeom prst="rect">
            <a:avLst/>
          </a:prstGeom>
          <a:solidFill>
            <a:srgbClr val="142030"/>
          </a:solidFill>
          <a:ln w="15240">
            <a:solidFill>
              <a:srgbClr val="0E74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" y="1435608"/>
            <a:ext cx="2852928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527048"/>
            <a:ext cx="268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mstr_harvester.py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7472" y="2112264"/>
            <a:ext cx="268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 21 CSVs from any IS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82112" y="1435608"/>
            <a:ext cx="2852928" cy="1060704"/>
          </a:xfrm>
          <a:prstGeom prst="rect">
            <a:avLst/>
          </a:prstGeom>
          <a:solidFill>
            <a:srgbClr val="142030"/>
          </a:solidFill>
          <a:ln w="15240">
            <a:solidFill>
              <a:srgbClr val="0E74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82112" y="1435608"/>
            <a:ext cx="2852928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527048"/>
            <a:ext cx="268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mstr_connectivity_tester.py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91840" y="2112264"/>
            <a:ext cx="268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all DB connections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1435608"/>
            <a:ext cx="2852928" cy="1060704"/>
          </a:xfrm>
          <a:prstGeom prst="rect">
            <a:avLst/>
          </a:prstGeom>
          <a:solidFill>
            <a:srgbClr val="142030"/>
          </a:solidFill>
          <a:ln w="15240">
            <a:solidFill>
              <a:srgbClr val="0E74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1435608"/>
            <a:ext cx="2852928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6208" y="1527048"/>
            <a:ext cx="268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fetch_mstr_datasources.scp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36208" y="2112264"/>
            <a:ext cx="268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Citrix: list all DSNs for ACL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070848" y="1435608"/>
            <a:ext cx="2852928" cy="1060704"/>
          </a:xfrm>
          <a:prstGeom prst="rect">
            <a:avLst/>
          </a:prstGeom>
          <a:solidFill>
            <a:srgbClr val="142030"/>
          </a:solidFill>
          <a:ln w="15240">
            <a:solidFill>
              <a:srgbClr val="0E74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70848" y="1435608"/>
            <a:ext cx="2852928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0576" y="1527048"/>
            <a:ext cx="268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build_acl_request.ps1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180576" y="2112264"/>
            <a:ext cx="268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Windows: resolve all IPs to CSV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37744" y="2606040"/>
            <a:ext cx="11686032" cy="256032"/>
          </a:xfrm>
          <a:prstGeom prst="rect">
            <a:avLst/>
          </a:prstGeom>
          <a:solidFill>
            <a:srgbClr val="6D28D9">
              <a:alpha val="85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" y="2606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MIGRATION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9838944" y="2606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scripts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37744" y="2898648"/>
            <a:ext cx="2264054" cy="1060704"/>
          </a:xfrm>
          <a:prstGeom prst="rect">
            <a:avLst/>
          </a:prstGeom>
          <a:solidFill>
            <a:srgbClr val="142030"/>
          </a:solidFill>
          <a:ln w="15240">
            <a:solidFill>
              <a:srgbClr val="6D28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7744" y="2898648"/>
            <a:ext cx="2264054" cy="5486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2990088"/>
            <a:ext cx="20994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mstr_package_migrator.py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47472" y="3575304"/>
            <a:ext cx="20994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+ import projects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593238" y="2898648"/>
            <a:ext cx="2264054" cy="1060704"/>
          </a:xfrm>
          <a:prstGeom prst="rect">
            <a:avLst/>
          </a:prstGeom>
          <a:solidFill>
            <a:srgbClr val="142030"/>
          </a:solidFill>
          <a:ln w="15240">
            <a:solidFill>
              <a:srgbClr val="6D28D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93238" y="2898648"/>
            <a:ext cx="2264054" cy="5486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02966" y="2990088"/>
            <a:ext cx="20994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mstr_user_migrator.py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702966" y="3575304"/>
            <a:ext cx="20994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users, groups, memberships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948733" y="2898648"/>
            <a:ext cx="2264054" cy="1060704"/>
          </a:xfrm>
          <a:prstGeom prst="rect">
            <a:avLst/>
          </a:prstGeom>
          <a:solidFill>
            <a:srgbClr val="142030"/>
          </a:solidFill>
          <a:ln w="15240">
            <a:solidFill>
              <a:srgbClr val="6D28D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48733" y="2898648"/>
            <a:ext cx="2264054" cy="5486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58461" y="2990088"/>
            <a:ext cx="20994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mstr_db_connection_creator.py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058461" y="3575304"/>
            <a:ext cx="20994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Recreate + IS-side test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304227" y="2898648"/>
            <a:ext cx="2264054" cy="1060704"/>
          </a:xfrm>
          <a:prstGeom prst="rect">
            <a:avLst/>
          </a:prstGeom>
          <a:solidFill>
            <a:srgbClr val="142030"/>
          </a:solidFill>
          <a:ln w="15240">
            <a:solidFill>
              <a:srgbClr val="6D28D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304227" y="2898648"/>
            <a:ext cx="2264054" cy="5486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13955" y="2990088"/>
            <a:ext cx="20994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extended_command_manager.scp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413955" y="3575304"/>
            <a:ext cx="20994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VLDB, schedules, security filters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9659722" y="2898648"/>
            <a:ext cx="2264054" cy="1060704"/>
          </a:xfrm>
          <a:prstGeom prst="rect">
            <a:avLst/>
          </a:prstGeom>
          <a:solidFill>
            <a:srgbClr val="142030"/>
          </a:solidFill>
          <a:ln w="15240">
            <a:solidFill>
              <a:srgbClr val="6D28D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659722" y="2898648"/>
            <a:ext cx="2264054" cy="5486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769450" y="2990088"/>
            <a:ext cx="20994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mstr_cache_warmer.py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9769450" y="3575304"/>
            <a:ext cx="20994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Pre-warm caches before go-live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37744" y="4069080"/>
            <a:ext cx="11686032" cy="256032"/>
          </a:xfrm>
          <a:prstGeom prst="rect">
            <a:avLst/>
          </a:prstGeom>
          <a:solidFill>
            <a:srgbClr val="047857">
              <a:alpha val="85000"/>
            </a:srgbClr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9184" y="40690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VALIDATION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9838944" y="40690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scripts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37744" y="4361688"/>
            <a:ext cx="2852928" cy="1060704"/>
          </a:xfrm>
          <a:prstGeom prst="rect">
            <a:avLst/>
          </a:prstGeom>
          <a:solidFill>
            <a:srgbClr val="142030"/>
          </a:solidFill>
          <a:ln w="15240">
            <a:solidFill>
              <a:srgbClr val="04785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37744" y="4361688"/>
            <a:ext cx="2852928" cy="5486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7472" y="4453128"/>
            <a:ext cx="268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mstr_report_validator.py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347472" y="5038344"/>
            <a:ext cx="268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+ compare all reports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182112" y="4361688"/>
            <a:ext cx="2852928" cy="1060704"/>
          </a:xfrm>
          <a:prstGeom prst="rect">
            <a:avLst/>
          </a:prstGeom>
          <a:solidFill>
            <a:srgbClr val="142030"/>
          </a:solidFill>
          <a:ln w="15240">
            <a:solidFill>
              <a:srgbClr val="04785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182112" y="4361688"/>
            <a:ext cx="2852928" cy="5486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91840" y="4453128"/>
            <a:ext cx="268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mstr_validator.py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3291840" y="5038344"/>
            <a:ext cx="268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on-prem vs cloud metadata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126480" y="4361688"/>
            <a:ext cx="2852928" cy="1060704"/>
          </a:xfrm>
          <a:prstGeom prst="rect">
            <a:avLst/>
          </a:prstGeom>
          <a:solidFill>
            <a:srgbClr val="142030"/>
          </a:solidFill>
          <a:ln w="15240">
            <a:solidFill>
              <a:srgbClr val="047857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126480" y="4361688"/>
            <a:ext cx="2852928" cy="5486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36208" y="4453128"/>
            <a:ext cx="268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full_validation_runner.py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236208" y="5038344"/>
            <a:ext cx="268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 all Phase 3 steps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9070848" y="4361688"/>
            <a:ext cx="2852928" cy="1060704"/>
          </a:xfrm>
          <a:prstGeom prst="rect">
            <a:avLst/>
          </a:prstGeom>
          <a:solidFill>
            <a:srgbClr val="142030"/>
          </a:solidFill>
          <a:ln w="15240">
            <a:solidFill>
              <a:srgbClr val="047857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070848" y="4361688"/>
            <a:ext cx="2852928" cy="5486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180576" y="4453128"/>
            <a:ext cx="268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mstr_command_manager.scp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9180576" y="5038344"/>
            <a:ext cx="268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Post-migration validation ops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365760" y="6400800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scripts run from your laptop via HTTPS — no shell access to the cloud IS required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B1E33"/>
          </a:solidFill>
          <a:ln w="12700">
            <a:solidFill>
              <a:srgbClr val="0B1E3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74320" y="66294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 Team  ·  MSTR Cloud Migration  ·  Confidential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0292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Team's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Involvement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19202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entire 7-instance migration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237744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</a:t>
            </a:r>
            <a:endParaRPr lang="en-US" sz="10800" dirty="0"/>
          </a:p>
        </p:txBody>
      </p:sp>
      <p:sp>
        <p:nvSpPr>
          <p:cNvPr id="5" name="Text 3"/>
          <p:cNvSpPr/>
          <p:nvPr/>
        </p:nvSpPr>
        <p:spPr>
          <a:xfrm>
            <a:off x="365760" y="3977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5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0" y="502920"/>
            <a:ext cx="3566160" cy="877824"/>
          </a:xfrm>
          <a:prstGeom prst="rect">
            <a:avLst/>
          </a:prstGeom>
          <a:solidFill>
            <a:srgbClr val="0F2535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502920"/>
            <a:ext cx="54864" cy="87782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51960" y="55778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251960" y="96012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IS credentials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903720" y="55778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114800" y="1508760"/>
            <a:ext cx="3566160" cy="877824"/>
          </a:xfrm>
          <a:prstGeom prst="rect">
            <a:avLst/>
          </a:prstGeom>
          <a:solidFill>
            <a:srgbClr val="0F2535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1508760"/>
            <a:ext cx="54864" cy="87782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51960" y="156362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251960" y="196596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1-hour prompt-value call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03720" y="156362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114800" y="2514600"/>
            <a:ext cx="3566160" cy="877824"/>
          </a:xfrm>
          <a:prstGeom prst="rect">
            <a:avLst/>
          </a:prstGeom>
          <a:solidFill>
            <a:srgbClr val="0F253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0" y="2514600"/>
            <a:ext cx="54864" cy="8778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51960" y="256946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251960" y="297180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validation dashboard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903720" y="25694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114800" y="3520440"/>
            <a:ext cx="3566160" cy="877824"/>
          </a:xfrm>
          <a:prstGeom prst="rect">
            <a:avLst/>
          </a:prstGeom>
          <a:solidFill>
            <a:srgbClr val="0F253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0" y="3520440"/>
            <a:ext cx="54864" cy="8778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51960" y="35753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251960" y="397764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approval email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03720" y="35753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75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7955280" y="457200"/>
          <a:ext cx="39319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Text 24"/>
          <p:cNvSpPr/>
          <p:nvPr/>
        </p:nvSpPr>
        <p:spPr>
          <a:xfrm>
            <a:off x="7955280" y="448056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 of all work is handled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i="1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— by the toolkit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0" y="6236208"/>
            <a:ext cx="12161520" cy="393192"/>
          </a:xfrm>
          <a:prstGeom prst="rect">
            <a:avLst/>
          </a:prstGeom>
          <a:solidFill>
            <a:srgbClr val="071422"/>
          </a:solidFill>
          <a:ln w="12700">
            <a:solidFill>
              <a:srgbClr val="07142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65760" y="6263640"/>
            <a:ext cx="1143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traditional migration of a medium MSTR instance requires 250+ hours and 5 people over 8 weeks. EBI's toolkit compresses this to &lt; 4 hours of script execution.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B1E33"/>
          </a:solidFill>
          <a:ln w="12700">
            <a:solidFill>
              <a:srgbClr val="0B1E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74320" y="66294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 Team  ·  MSTR Cloud Migration  ·  Confidential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6294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56032"/>
            <a:ext cx="1645920" cy="29260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DISCOVERY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Discovery: 100% Automated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1480" y="132588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 runs one script. 21 CSVs come out. Your team does nothing.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828800"/>
            <a:ext cx="36576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828800"/>
            <a:ext cx="3657600" cy="4114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828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Script Does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76072" y="233172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your IS via HTTPS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76072" y="290779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Harvests all reports, users, groups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76072" y="3483864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every DB connection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76072" y="4059936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schedules &amp; subscriptions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76072" y="463600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LDAP/SAML/SMTP config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76072" y="521208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full server inventory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97680" y="1828800"/>
            <a:ext cx="36576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97680" y="1828800"/>
            <a:ext cx="3657600" cy="4114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0" y="1828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Produces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462272" y="233172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CSV files — complete metadata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462272" y="290779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SUMMARY_REPORT.txt — risk flags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462272" y="3483864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connection inventory for ACL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462272" y="4059936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list for cleanup analysis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462272" y="463600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&amp; subscription map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462272" y="521208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AI-ready input for risk matrix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183880" y="1828800"/>
            <a:ext cx="36576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183880" y="1828800"/>
            <a:ext cx="3657600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83880" y="1828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348472" y="233172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IS hostname and credentials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348472" y="290779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it.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348472" y="4059936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manual inventory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348472" y="463600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consultant needed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348472" y="521208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documentation effort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966960" y="256032"/>
            <a:ext cx="1920240" cy="129844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966960" y="2743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5400" dirty="0"/>
          </a:p>
        </p:txBody>
      </p:sp>
      <p:sp>
        <p:nvSpPr>
          <p:cNvPr id="35" name="Text 33"/>
          <p:cNvSpPr/>
          <p:nvPr/>
        </p:nvSpPr>
        <p:spPr>
          <a:xfrm>
            <a:off x="9966960" y="100584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HRS FROM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B1E33"/>
          </a:solidFill>
          <a:ln w="12700">
            <a:solidFill>
              <a:srgbClr val="0B1E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66294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 Team  ·  MSTR Cloud Migration  ·  Confidential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6294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56032"/>
            <a:ext cx="1645920" cy="2926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MIGRATION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Migration: 95% Automated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1480" y="132588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scripts run sequentially. EBI owns execution. Your team provides credentials once.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755648"/>
            <a:ext cx="3383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755648"/>
            <a:ext cx="3383280" cy="5486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920240"/>
            <a:ext cx="329184" cy="329184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883664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&amp; Import Packages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30352" y="228600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all objects project by project via REST API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0" y="2468880"/>
            <a:ext cx="86868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246888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977640" y="1755648"/>
            <a:ext cx="3383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977640" y="1755648"/>
            <a:ext cx="3383280" cy="5486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0" y="1920240"/>
            <a:ext cx="329184" cy="329184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0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26280" y="1883664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Recreate Users &amp; Groups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142232" y="228600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Bulk-create all users, groups, memberships from CSVs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355080" y="2468880"/>
            <a:ext cx="86868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246888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589520" y="1755648"/>
            <a:ext cx="3383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589520" y="1755648"/>
            <a:ext cx="3383280" cy="5486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26680" y="1920240"/>
            <a:ext cx="329184" cy="329184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26680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138160" y="1883664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Recreate DB Connections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754112" y="228600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every datasource; test connectivity from IS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966960" y="2468880"/>
            <a:ext cx="86868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966960" y="246888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148840" y="2926080"/>
            <a:ext cx="3383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148840" y="2926080"/>
            <a:ext cx="3383280" cy="5486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86000" y="3090672"/>
            <a:ext cx="329184" cy="329184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0" y="3090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697480" y="3054096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VLDB + Schedules + Security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2313432" y="3456432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apply via Command Manager from Citrix server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26280" y="3639312"/>
            <a:ext cx="86868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26280" y="363931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760720" y="2926080"/>
            <a:ext cx="3383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760720" y="2926080"/>
            <a:ext cx="3383280" cy="5486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897880" y="3090672"/>
            <a:ext cx="329184" cy="329184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97880" y="3090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309360" y="3054096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Pre-warm Report Cache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925312" y="3456432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top-N reports so users see fast loads on day 1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138160" y="3639312"/>
            <a:ext cx="86868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138160" y="363931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365760" y="4160520"/>
            <a:ext cx="11430000" cy="141732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65760" y="4160520"/>
            <a:ext cx="73152" cy="1417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4360" y="42519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Your Team Does in Phase 2: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94360" y="4572000"/>
            <a:ext cx="11064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the IS hostname, admin credentials, and DB datasource passwords once (via a secure YAML config file).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of your reports have prompted inputs (filters/parameters), join a 30-minute call to confirm the correct values — then we pre-configure everything. No further involvement in Phase 2.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9966960" y="256032"/>
            <a:ext cx="1920240" cy="129844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9966960" y="2743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400" dirty="0"/>
          </a:p>
        </p:txBody>
      </p:sp>
      <p:sp>
        <p:nvSpPr>
          <p:cNvPr id="53" name="Text 51"/>
          <p:cNvSpPr/>
          <p:nvPr/>
        </p:nvSpPr>
        <p:spPr>
          <a:xfrm>
            <a:off x="9966960" y="100584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FROM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B1E33"/>
          </a:solidFill>
          <a:ln w="12700">
            <a:solidFill>
              <a:srgbClr val="0B1E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" y="66294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 Team  ·  MSTR Cloud Migration  ·  Confidential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62940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56032"/>
            <a:ext cx="1645920" cy="29260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VALIDATION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90% Automated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1480" y="132588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report executed, compared, and scored. You receive a ready-to-sign dashboard.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828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runs automatically: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2212848"/>
            <a:ext cx="219456" cy="219456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2128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49808" y="21945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every report + dossier on source AND cloud IS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2807208"/>
            <a:ext cx="219456" cy="219456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8072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49808" y="27889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row counts, column schemas, and data hashes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3401568"/>
            <a:ext cx="219456" cy="219456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4015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49808" y="33832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every mismatch with exact failure reason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" y="3995928"/>
            <a:ext cx="219456" cy="219456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9959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49808" y="39776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all subscription emails to EBI test mailbox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4590288"/>
            <a:ext cx="219456" cy="219456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5902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49808" y="4572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HTML dashboard + CSV with pass/fail per report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11480" y="5184648"/>
            <a:ext cx="219456" cy="219456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51846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49808" y="51663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MASTER_VALIDATION_REPORT.txt for sign-off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760720" y="1691640"/>
            <a:ext cx="5989320" cy="4663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760720" y="1691640"/>
            <a:ext cx="5989320" cy="457200"/>
          </a:xfrm>
          <a:prstGeom prst="rect">
            <a:avLst/>
          </a:prstGeom>
          <a:solidFill>
            <a:srgbClr val="0B1E33"/>
          </a:solidFill>
          <a:ln w="12700">
            <a:solidFill>
              <a:srgbClr val="0B1E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52160" y="1691640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MSTR Report Validation Dashboard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897880" y="2267712"/>
            <a:ext cx="135331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897880" y="2286000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847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5897880" y="269748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360920" y="2267712"/>
            <a:ext cx="135331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360920" y="2286000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831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7360920" y="269748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8823960" y="2267712"/>
            <a:ext cx="135331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823960" y="2286000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8823960" y="269748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0287000" y="2267712"/>
            <a:ext cx="135331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10287000" y="2286000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98.1%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10287000" y="269748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897880" y="3182112"/>
            <a:ext cx="5760720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897880" y="3182112"/>
            <a:ext cx="5651266" cy="14630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806440" y="3429000"/>
            <a:ext cx="5943600" cy="274320"/>
          </a:xfrm>
          <a:prstGeom prst="rect">
            <a:avLst/>
          </a:prstGeom>
          <a:solidFill>
            <a:srgbClr val="112536"/>
          </a:solidFill>
          <a:ln w="12700">
            <a:solidFill>
              <a:srgbClr val="11253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79592" y="343814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519672" y="34381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Name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8348472" y="343814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✓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8988552" y="343814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✓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9720072" y="34381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Reason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5806440" y="3730752"/>
            <a:ext cx="5943600" cy="393192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879592" y="3767328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519672" y="3767328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Region Q1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8348472" y="3767328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8988552" y="3767328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9720072" y="3767328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5806440" y="4151376"/>
            <a:ext cx="5943600" cy="393192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879592" y="4187952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519672" y="4187952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Sales Summary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8348472" y="4187952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8988552" y="4187952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9720072" y="4187952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5806440" y="4572000"/>
            <a:ext cx="5943600" cy="393192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879592" y="4608576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6519672" y="4608576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Headcount Report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8348472" y="4608576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8988552" y="4608576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9720072" y="4608576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count: 4,021 vs 4,019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5806440" y="4992624"/>
            <a:ext cx="5943600" cy="393192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879592" y="502920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6519672" y="502920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Variance Analysis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8348472" y="502920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8988552" y="5029200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9720072" y="502920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9966960" y="256032"/>
            <a:ext cx="1920240" cy="129844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4" name="Text 72"/>
          <p:cNvSpPr/>
          <p:nvPr/>
        </p:nvSpPr>
        <p:spPr>
          <a:xfrm>
            <a:off x="9966960" y="2743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</a:t>
            </a:r>
            <a:endParaRPr lang="en-US" sz="4600" dirty="0"/>
          </a:p>
        </p:txBody>
      </p:sp>
      <p:sp>
        <p:nvSpPr>
          <p:cNvPr id="75" name="Text 73"/>
          <p:cNvSpPr/>
          <p:nvPr/>
        </p:nvSpPr>
        <p:spPr>
          <a:xfrm>
            <a:off x="9966960" y="100584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HRS TO REVIEW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SIGN OFF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B1E33"/>
          </a:solidFill>
          <a:ln w="12700">
            <a:solidFill>
              <a:srgbClr val="0B1E33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74320" y="66294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 Team  ·  MSTR Cloud Migration  ·  Confidential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Map — Every Team, Every Phase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that answer the funding question.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91840" y="1078992"/>
            <a:ext cx="1920240" cy="5120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91840" y="1078992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394960" y="1078992"/>
            <a:ext cx="1920240" cy="51206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94960" y="1078992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498080" y="1078992"/>
            <a:ext cx="1920240" cy="51206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0" y="1078992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9601200" y="1078992"/>
            <a:ext cx="1920240" cy="512064"/>
          </a:xfrm>
          <a:prstGeom prst="rect">
            <a:avLst/>
          </a:prstGeom>
          <a:solidFill>
            <a:srgbClr val="0B1E33"/>
          </a:solidFill>
          <a:ln w="12700">
            <a:solidFill>
              <a:srgbClr val="0B1E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0" y="1078992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1078992"/>
            <a:ext cx="2880360" cy="512064"/>
          </a:xfrm>
          <a:prstGeom prst="rect">
            <a:avLst/>
          </a:prstGeom>
          <a:solidFill>
            <a:srgbClr val="0B1E33"/>
          </a:solidFill>
          <a:ln w="12700">
            <a:solidFill>
              <a:srgbClr val="0B1E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078992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1627632"/>
            <a:ext cx="11521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627632"/>
            <a:ext cx="288036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170078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Team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" y="21762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all migration execution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429000" y="2194560"/>
            <a:ext cx="164592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29000" y="2194560"/>
            <a:ext cx="987552" cy="12801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17190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5532120" y="2194560"/>
            <a:ext cx="164592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32120" y="2194560"/>
            <a:ext cx="1399032" cy="12801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0" y="17190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7635240" y="2194560"/>
            <a:ext cx="164592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35240" y="2194560"/>
            <a:ext cx="1152144" cy="12801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0" y="17190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9738360" y="2194560"/>
            <a:ext cx="164592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738360" y="2194560"/>
            <a:ext cx="1185062" cy="128016"/>
          </a:xfrm>
          <a:prstGeom prst="rect">
            <a:avLst/>
          </a:prstGeom>
          <a:solidFill>
            <a:srgbClr val="0B1E33"/>
          </a:solidFill>
          <a:ln w="12700">
            <a:solidFill>
              <a:srgbClr val="0B1E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92640" y="17190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2600" dirty="0"/>
          </a:p>
        </p:txBody>
      </p:sp>
      <p:sp>
        <p:nvSpPr>
          <p:cNvPr id="30" name="Shape 28"/>
          <p:cNvSpPr/>
          <p:nvPr/>
        </p:nvSpPr>
        <p:spPr>
          <a:xfrm>
            <a:off x="320040" y="2724912"/>
            <a:ext cx="11521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2724912"/>
            <a:ext cx="288036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279806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Team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5488" y="32735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scripts, owns validation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429000" y="3291840"/>
            <a:ext cx="164592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29000" y="3291840"/>
            <a:ext cx="658368" cy="12801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83280" y="28163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600" dirty="0"/>
          </a:p>
        </p:txBody>
      </p:sp>
      <p:sp>
        <p:nvSpPr>
          <p:cNvPr id="37" name="Shape 35"/>
          <p:cNvSpPr/>
          <p:nvPr/>
        </p:nvSpPr>
        <p:spPr>
          <a:xfrm>
            <a:off x="5532120" y="3291840"/>
            <a:ext cx="164592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532120" y="3291840"/>
            <a:ext cx="1069848" cy="12801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0" y="28163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2600" dirty="0"/>
          </a:p>
        </p:txBody>
      </p:sp>
      <p:sp>
        <p:nvSpPr>
          <p:cNvPr id="40" name="Shape 38"/>
          <p:cNvSpPr/>
          <p:nvPr/>
        </p:nvSpPr>
        <p:spPr>
          <a:xfrm>
            <a:off x="7635240" y="3291840"/>
            <a:ext cx="164592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35240" y="3291840"/>
            <a:ext cx="905256" cy="12801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89520" y="28163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2600" dirty="0"/>
          </a:p>
        </p:txBody>
      </p:sp>
      <p:sp>
        <p:nvSpPr>
          <p:cNvPr id="43" name="Shape 41"/>
          <p:cNvSpPr/>
          <p:nvPr/>
        </p:nvSpPr>
        <p:spPr>
          <a:xfrm>
            <a:off x="9738360" y="3291840"/>
            <a:ext cx="164592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738360" y="3291840"/>
            <a:ext cx="872338" cy="128016"/>
          </a:xfrm>
          <a:prstGeom prst="rect">
            <a:avLst/>
          </a:prstGeom>
          <a:solidFill>
            <a:srgbClr val="0B1E33"/>
          </a:solidFill>
          <a:ln w="12700">
            <a:solidFill>
              <a:srgbClr val="0B1E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692640" y="28163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53%</a:t>
            </a:r>
            <a:endParaRPr lang="en-US" sz="2600" dirty="0"/>
          </a:p>
        </p:txBody>
      </p:sp>
      <p:sp>
        <p:nvSpPr>
          <p:cNvPr id="46" name="Shape 44"/>
          <p:cNvSpPr/>
          <p:nvPr/>
        </p:nvSpPr>
        <p:spPr>
          <a:xfrm>
            <a:off x="320040" y="3822192"/>
            <a:ext cx="11521440" cy="1005840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0040" y="3822192"/>
            <a:ext cx="2880360" cy="100584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0040" y="3822192"/>
            <a:ext cx="73152" cy="10058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5488" y="389534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/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Inst. Teams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75488" y="43708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+ 1 call + sign-off only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429000" y="4389120"/>
            <a:ext cx="164592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383280" y="39136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2000" dirty="0"/>
          </a:p>
        </p:txBody>
      </p:sp>
      <p:sp>
        <p:nvSpPr>
          <p:cNvPr id="53" name="Shape 51"/>
          <p:cNvSpPr/>
          <p:nvPr/>
        </p:nvSpPr>
        <p:spPr>
          <a:xfrm>
            <a:off x="5532120" y="4389120"/>
            <a:ext cx="164592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532120" y="4389120"/>
            <a:ext cx="32918" cy="12801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86400" y="39136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2600" dirty="0"/>
          </a:p>
        </p:txBody>
      </p:sp>
      <p:sp>
        <p:nvSpPr>
          <p:cNvPr id="56" name="Shape 54"/>
          <p:cNvSpPr/>
          <p:nvPr/>
        </p:nvSpPr>
        <p:spPr>
          <a:xfrm>
            <a:off x="7635240" y="4389120"/>
            <a:ext cx="164592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635240" y="4389120"/>
            <a:ext cx="131674" cy="12801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589520" y="39136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2600" dirty="0"/>
          </a:p>
        </p:txBody>
      </p:sp>
      <p:sp>
        <p:nvSpPr>
          <p:cNvPr id="59" name="Shape 57"/>
          <p:cNvSpPr/>
          <p:nvPr/>
        </p:nvSpPr>
        <p:spPr>
          <a:xfrm>
            <a:off x="9738360" y="4389120"/>
            <a:ext cx="164592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738360" y="4389120"/>
            <a:ext cx="49378" cy="12801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692640" y="39136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2600" dirty="0"/>
          </a:p>
        </p:txBody>
      </p:sp>
      <p:sp>
        <p:nvSpPr>
          <p:cNvPr id="62" name="Shape 60"/>
          <p:cNvSpPr/>
          <p:nvPr/>
        </p:nvSpPr>
        <p:spPr>
          <a:xfrm>
            <a:off x="320040" y="4919472"/>
            <a:ext cx="1152144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20040" y="4919472"/>
            <a:ext cx="2880360" cy="100584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5488" y="499262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Team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475488" y="54681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engaged until Phase 4 (post go-live)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3429000" y="5486400"/>
            <a:ext cx="164592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383280" y="501091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2000" dirty="0"/>
          </a:p>
        </p:txBody>
      </p:sp>
      <p:sp>
        <p:nvSpPr>
          <p:cNvPr id="68" name="Shape 66"/>
          <p:cNvSpPr/>
          <p:nvPr/>
        </p:nvSpPr>
        <p:spPr>
          <a:xfrm>
            <a:off x="5532120" y="5486400"/>
            <a:ext cx="164592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486400" y="501091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2000" dirty="0"/>
          </a:p>
        </p:txBody>
      </p:sp>
      <p:sp>
        <p:nvSpPr>
          <p:cNvPr id="70" name="Shape 68"/>
          <p:cNvSpPr/>
          <p:nvPr/>
        </p:nvSpPr>
        <p:spPr>
          <a:xfrm>
            <a:off x="7635240" y="5486400"/>
            <a:ext cx="164592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589520" y="501091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2000" dirty="0"/>
          </a:p>
        </p:txBody>
      </p:sp>
      <p:sp>
        <p:nvSpPr>
          <p:cNvPr id="72" name="Shape 70"/>
          <p:cNvSpPr/>
          <p:nvPr/>
        </p:nvSpPr>
        <p:spPr>
          <a:xfrm>
            <a:off x="9738360" y="5486400"/>
            <a:ext cx="164592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692640" y="501091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2000" dirty="0"/>
          </a:p>
        </p:txBody>
      </p:sp>
      <p:sp>
        <p:nvSpPr>
          <p:cNvPr id="74" name="Shape 72"/>
          <p:cNvSpPr/>
          <p:nvPr/>
        </p:nvSpPr>
        <p:spPr>
          <a:xfrm>
            <a:off x="320040" y="5138928"/>
            <a:ext cx="11521440" cy="548640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57200" y="5166360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Business / Instance Teams: 3% overall effort  ·  0 hrs in Phase 1  ·  1 hr in Phase 2  ·  &lt; 2 hrs in Phase 3  ·  Total: less than half a working day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B1E33"/>
          </a:solidFill>
          <a:ln w="12700">
            <a:solidFill>
              <a:srgbClr val="0B1E33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74320" y="66294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 Team  ·  MSTR Cloud Migration  ·  Confidential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Each Instance Team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things. That's the entire ask.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53312"/>
            <a:ext cx="11247120" cy="1417320"/>
          </a:xfrm>
          <a:prstGeom prst="rect">
            <a:avLst/>
          </a:prstGeom>
          <a:solidFill>
            <a:srgbClr val="0F2535"/>
          </a:solidFill>
          <a:ln w="19050">
            <a:solidFill>
              <a:srgbClr val="0E74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09344"/>
            <a:ext cx="822960" cy="82296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0934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572768" y="1499616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Access Credentials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72768" y="1901952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Hostname, admin username, admin password, and datasource DB passwords.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once via a secure config file — never shared beyond EBI.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0149840" y="1673352"/>
            <a:ext cx="1371600" cy="713232"/>
          </a:xfrm>
          <a:prstGeom prst="rect">
            <a:avLst/>
          </a:prstGeom>
          <a:solidFill>
            <a:srgbClr val="0E7490">
              <a:alpha val="80000"/>
            </a:srgbClr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49840" y="167335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149840" y="20665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11247120" cy="1417320"/>
          </a:xfrm>
          <a:prstGeom prst="rect">
            <a:avLst/>
          </a:prstGeom>
          <a:solidFill>
            <a:srgbClr val="0F2535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3182112"/>
            <a:ext cx="822960" cy="8229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18211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572768" y="3072384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60-Minute Call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72768" y="347472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reports with prompted inputs (date filters, region selectors, etc.): confirm the correct parameter values to pre-configure.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once. Saved in config. Never needed again.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149840" y="3246120"/>
            <a:ext cx="1371600" cy="713232"/>
          </a:xfrm>
          <a:prstGeom prst="rect">
            <a:avLst/>
          </a:prstGeom>
          <a:solidFill>
            <a:srgbClr val="D97706">
              <a:alpha val="8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149840" y="324612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149840" y="36393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4498848"/>
            <a:ext cx="11247120" cy="1417320"/>
          </a:xfrm>
          <a:prstGeom prst="rect">
            <a:avLst/>
          </a:prstGeom>
          <a:solidFill>
            <a:srgbClr val="0F2535"/>
          </a:solidFill>
          <a:ln w="19050">
            <a:solidFill>
              <a:srgbClr val="04785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4754880"/>
            <a:ext cx="822960" cy="82296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754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572768" y="464515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Sign-Off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572768" y="5047488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HTML validation dashboard (emailed to you). Review your instance's pass rate.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the approval email. 90-second job if the dashboard is green.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0149840" y="4818888"/>
            <a:ext cx="1371600" cy="713232"/>
          </a:xfrm>
          <a:prstGeom prst="rect">
            <a:avLst/>
          </a:prstGeom>
          <a:solidFill>
            <a:srgbClr val="047857">
              <a:alpha val="80000"/>
            </a:srgbClr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49840" y="481888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hrs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149840" y="52120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" y="6190488"/>
            <a:ext cx="11247120" cy="411480"/>
          </a:xfrm>
          <a:prstGeom prst="rect">
            <a:avLst/>
          </a:prstGeom>
          <a:solidFill>
            <a:srgbClr val="0E7490">
              <a:alpha val="80000"/>
            </a:srgbClr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619963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— discovery, migration, validation, reporting, sign-off documentation — is handled by EBI.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B1E33"/>
          </a:solidFill>
          <a:ln w="12700">
            <a:solidFill>
              <a:srgbClr val="0B1E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66294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 Team  ·  MSTR Cloud Migration  ·  Confidential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&amp; Time Impact — Per Instance, Across All 7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1143000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2724912" cy="146304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24128"/>
            <a:ext cx="25420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hrs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792224"/>
            <a:ext cx="2542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effort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(medium instance)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18688" y="914400"/>
            <a:ext cx="2724912" cy="146304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10128" y="1024128"/>
            <a:ext cx="25420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 hrs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310128" y="1792224"/>
            <a:ext cx="2542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execution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(any instance size)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71616" y="914400"/>
            <a:ext cx="2724912" cy="146304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63056" y="1024128"/>
            <a:ext cx="25420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$38K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163056" y="1792224"/>
            <a:ext cx="2542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costs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 per instance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24544" y="914400"/>
            <a:ext cx="2724912" cy="1463040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15984" y="1024128"/>
            <a:ext cx="25420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98.5%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9015984" y="1792224"/>
            <a:ext cx="2542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time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560320"/>
            <a:ext cx="11430000" cy="365760"/>
          </a:xfrm>
          <a:prstGeom prst="rect">
            <a:avLst/>
          </a:prstGeom>
          <a:solidFill>
            <a:srgbClr val="0B1E33"/>
          </a:solidFill>
          <a:ln w="12700">
            <a:solidFill>
              <a:srgbClr val="0B1E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56032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ACROSS ALL 7 INSTANCES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017520"/>
            <a:ext cx="272491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017520"/>
            <a:ext cx="2724912" cy="5486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090672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$266,000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57200" y="3858768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× $38K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02920" y="4206240"/>
            <a:ext cx="2450592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251960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costs eliminated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18688" y="3017520"/>
            <a:ext cx="272491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18688" y="3017520"/>
            <a:ext cx="2724912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0128" y="3090672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1,750 hrs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3310128" y="3858768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× 250 hrs (medium estimate)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355848" y="4206240"/>
            <a:ext cx="2450592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0128" y="4251960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of manual work removed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71616" y="3017520"/>
            <a:ext cx="272491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71616" y="3017520"/>
            <a:ext cx="2724912" cy="5486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63056" y="3090672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weeks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6163056" y="3858768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40 hrs/week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208776" y="4206240"/>
            <a:ext cx="2450592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63056" y="4251960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weeks reclaimed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924544" y="3017520"/>
            <a:ext cx="272491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924544" y="3017520"/>
            <a:ext cx="2724912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15984" y="3090672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21 hrs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9015984" y="3858768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 hrs × 7 instances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9061704" y="4206240"/>
            <a:ext cx="2450592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015984" y="4251960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team hours required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65760" y="5138928"/>
            <a:ext cx="11430000" cy="594360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5175504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$70/hr developer rate: 7 instances automated = $122,500 in recovered developer capacity. Enough to fund one full developer for nearly two years.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B1E33"/>
          </a:solidFill>
          <a:ln w="12700">
            <a:solidFill>
              <a:srgbClr val="0B1E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66294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 Team  ·  MSTR Cloud Migration  ·  Confidential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Timeline — When Your Team Is Involved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markers show every touchpoint where an instance team is needed.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3063240"/>
            <a:ext cx="11155680" cy="914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78992"/>
            <a:ext cx="3123590" cy="42062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78992"/>
            <a:ext cx="31235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DISCOVERY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961181" y="1078992"/>
            <a:ext cx="4239158" cy="42062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61181" y="1078992"/>
            <a:ext cx="42391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MIGRATION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535010" y="1078992"/>
            <a:ext cx="3123590" cy="4206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35010" y="1078992"/>
            <a:ext cx="31235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VALIDATION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2999232"/>
            <a:ext cx="128016" cy="12801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" y="319125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926336" y="2999232"/>
            <a:ext cx="128016" cy="12801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70304" y="319125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413760" y="2999232"/>
            <a:ext cx="128016" cy="12801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7728" y="319125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901184" y="2999232"/>
            <a:ext cx="128016" cy="12801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45152" y="319125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4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388608" y="2999232"/>
            <a:ext cx="128016" cy="12801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32576" y="319125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5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876032" y="2999232"/>
            <a:ext cx="128016" cy="12801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20000" y="319125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6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9363456" y="2999232"/>
            <a:ext cx="128016" cy="12801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07424" y="319125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7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0850880" y="2999232"/>
            <a:ext cx="128016" cy="12801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94848" y="319125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8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16306" y="2953512"/>
            <a:ext cx="219456" cy="219456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7746" y="2377440"/>
            <a:ext cx="36576" cy="576072"/>
          </a:xfrm>
          <a:prstGeom prst="rect">
            <a:avLst/>
          </a:prstGeom>
          <a:solidFill>
            <a:srgbClr val="0E7490">
              <a:alpha val="60000"/>
            </a:srgbClr>
          </a:solidFill>
          <a:ln w="12700">
            <a:solidFill>
              <a:srgbClr val="0E7490">
                <a:alpha val="6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1674" y="1709928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Harvester runs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all 7 IS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954987" y="2953512"/>
            <a:ext cx="219456" cy="219456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46427" y="1874520"/>
            <a:ext cx="36576" cy="1078992"/>
          </a:xfrm>
          <a:prstGeom prst="rect">
            <a:avLst/>
          </a:prstGeom>
          <a:solidFill>
            <a:srgbClr val="0E7490">
              <a:alpha val="60000"/>
            </a:srgbClr>
          </a:solidFill>
          <a:ln w="12700">
            <a:solidFill>
              <a:srgbClr val="0E7490">
                <a:alpha val="6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70355" y="1207008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requests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739896" y="2953512"/>
            <a:ext cx="219456" cy="219456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31336" y="2377440"/>
            <a:ext cx="36576" cy="576072"/>
          </a:xfrm>
          <a:prstGeom prst="rect">
            <a:avLst/>
          </a:prstGeom>
          <a:solidFill>
            <a:srgbClr val="6D28D9">
              <a:alpha val="60000"/>
            </a:srgbClr>
          </a:solidFill>
          <a:ln w="12700">
            <a:solidFill>
              <a:srgbClr val="6D28D9">
                <a:alpha val="6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55264" y="1709928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078578" y="2953512"/>
            <a:ext cx="219456" cy="219456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70018" y="1874520"/>
            <a:ext cx="36576" cy="1078992"/>
          </a:xfrm>
          <a:prstGeom prst="rect">
            <a:avLst/>
          </a:prstGeom>
          <a:solidFill>
            <a:srgbClr val="6D28D9">
              <a:alpha val="60000"/>
            </a:srgbClr>
          </a:solidFill>
          <a:ln w="12700">
            <a:solidFill>
              <a:srgbClr val="6D28D9">
                <a:alpha val="6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93946" y="1207008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groups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recreated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417259" y="2953512"/>
            <a:ext cx="219456" cy="219456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08699" y="2377440"/>
            <a:ext cx="36576" cy="576072"/>
          </a:xfrm>
          <a:prstGeom prst="rect">
            <a:avLst/>
          </a:prstGeom>
          <a:solidFill>
            <a:srgbClr val="6D28D9">
              <a:alpha val="60000"/>
            </a:srgbClr>
          </a:solidFill>
          <a:ln w="12700">
            <a:solidFill>
              <a:srgbClr val="6D28D9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32627" y="1709928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connections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from IS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867498" y="2953512"/>
            <a:ext cx="219456" cy="219456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958938" y="1874520"/>
            <a:ext cx="36576" cy="1078992"/>
          </a:xfrm>
          <a:prstGeom prst="rect">
            <a:avLst/>
          </a:prstGeom>
          <a:solidFill>
            <a:srgbClr val="6D28D9">
              <a:alpha val="60000"/>
            </a:srgbClr>
          </a:solidFill>
          <a:ln w="12700">
            <a:solidFill>
              <a:srgbClr val="6D28D9">
                <a:alpha val="6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82866" y="1207008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pre-warmed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8648395" y="2953512"/>
            <a:ext cx="219456" cy="219456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39835" y="2377440"/>
            <a:ext cx="36576" cy="576072"/>
          </a:xfrm>
          <a:prstGeom prst="rect">
            <a:avLst/>
          </a:prstGeom>
          <a:solidFill>
            <a:srgbClr val="047857">
              <a:alpha val="60000"/>
            </a:srgbClr>
          </a:solidFill>
          <a:ln w="12700">
            <a:solidFill>
              <a:srgbClr val="047857">
                <a:alpha val="6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163763" y="1709928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executed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both sides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0210190" y="2953512"/>
            <a:ext cx="219456" cy="219456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301630" y="1874520"/>
            <a:ext cx="36576" cy="1078992"/>
          </a:xfrm>
          <a:prstGeom prst="rect">
            <a:avLst/>
          </a:prstGeom>
          <a:solidFill>
            <a:srgbClr val="047857">
              <a:alpha val="60000"/>
            </a:srgbClr>
          </a:solidFill>
          <a:ln w="12700">
            <a:solidFill>
              <a:srgbClr val="047857">
                <a:alpha val="6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725558" y="1207008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1325758" y="2953512"/>
            <a:ext cx="219456" cy="219456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417198" y="2377440"/>
            <a:ext cx="36576" cy="576072"/>
          </a:xfrm>
          <a:prstGeom prst="rect">
            <a:avLst/>
          </a:prstGeom>
          <a:solidFill>
            <a:srgbClr val="047857">
              <a:alpha val="60000"/>
            </a:srgbClr>
          </a:solidFill>
          <a:ln w="12700">
            <a:solidFill>
              <a:srgbClr val="047857">
                <a:alpha val="6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841126" y="1709928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Go-live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153973" y="3154680"/>
            <a:ext cx="36576" cy="548640"/>
          </a:xfrm>
          <a:prstGeom prst="rect">
            <a:avLst/>
          </a:prstGeom>
          <a:solidFill>
            <a:srgbClr val="D97706">
              <a:alpha val="70000"/>
            </a:srgbClr>
          </a:solidFill>
          <a:ln w="12700">
            <a:solidFill>
              <a:srgbClr val="D97706">
                <a:alpha val="7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62533" y="3685032"/>
            <a:ext cx="219456" cy="21945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2181" y="39319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Provide IS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608222" y="3154680"/>
            <a:ext cx="36576" cy="548640"/>
          </a:xfrm>
          <a:prstGeom prst="rect">
            <a:avLst/>
          </a:prstGeom>
          <a:solidFill>
            <a:srgbClr val="D97706">
              <a:alpha val="70000"/>
            </a:srgbClr>
          </a:solidFill>
          <a:ln w="12700">
            <a:solidFill>
              <a:srgbClr val="D97706">
                <a:alpha val="7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516782" y="3685032"/>
            <a:ext cx="219456" cy="21945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986430" y="39319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Prompt-value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(60 min)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10747858" y="3154680"/>
            <a:ext cx="36576" cy="548640"/>
          </a:xfrm>
          <a:prstGeom prst="rect">
            <a:avLst/>
          </a:prstGeom>
          <a:solidFill>
            <a:srgbClr val="D97706">
              <a:alpha val="70000"/>
            </a:srgbClr>
          </a:solidFill>
          <a:ln w="12700">
            <a:solidFill>
              <a:srgbClr val="D97706">
                <a:alpha val="7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656418" y="3685032"/>
            <a:ext cx="219456" cy="21945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126066" y="39319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Review dashboard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sign off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502920" y="6035040"/>
            <a:ext cx="164592" cy="164592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9808" y="60167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 / HCL automated milestone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3931920" y="6035040"/>
            <a:ext cx="164592" cy="16459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178808" y="60167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team touchpoint (3 total)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B1E33"/>
          </a:solidFill>
          <a:ln w="12700">
            <a:solidFill>
              <a:srgbClr val="0B1E3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74320" y="66294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 Team  ·  MSTR Cloud Migration  ·  Confidential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49840" y="320040"/>
            <a:ext cx="118872" cy="118872"/>
          </a:xfrm>
          <a:prstGeom prst="ellipse">
            <a:avLst/>
          </a:prstGeom>
          <a:solidFill>
            <a:srgbClr val="047857">
              <a:alpha val="40000"/>
            </a:srgbClr>
          </a:solidFill>
          <a:ln w="12700">
            <a:solidFill>
              <a:srgbClr val="047857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97312" y="320040"/>
            <a:ext cx="118872" cy="118872"/>
          </a:xfrm>
          <a:prstGeom prst="ellipse">
            <a:avLst/>
          </a:prstGeom>
          <a:solidFill>
            <a:srgbClr val="047857">
              <a:alpha val="40000"/>
            </a:srgbClr>
          </a:solidFill>
          <a:ln w="12700">
            <a:solidFill>
              <a:srgbClr val="047857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44784" y="320040"/>
            <a:ext cx="118872" cy="118872"/>
          </a:xfrm>
          <a:prstGeom prst="ellipse">
            <a:avLst/>
          </a:prstGeom>
          <a:solidFill>
            <a:srgbClr val="047857">
              <a:alpha val="40000"/>
            </a:srgbClr>
          </a:solidFill>
          <a:ln w="12700">
            <a:solidFill>
              <a:srgbClr val="047857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92256" y="320040"/>
            <a:ext cx="118872" cy="118872"/>
          </a:xfrm>
          <a:prstGeom prst="ellipse">
            <a:avLst/>
          </a:prstGeom>
          <a:solidFill>
            <a:srgbClr val="047857">
              <a:alpha val="40000"/>
            </a:srgbClr>
          </a:solidFill>
          <a:ln w="12700">
            <a:solidFill>
              <a:srgbClr val="047857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39728" y="320040"/>
            <a:ext cx="118872" cy="118872"/>
          </a:xfrm>
          <a:prstGeom prst="ellipse">
            <a:avLst/>
          </a:prstGeom>
          <a:solidFill>
            <a:srgbClr val="047857">
              <a:alpha val="40000"/>
            </a:srgbClr>
          </a:solidFill>
          <a:ln w="12700">
            <a:solidFill>
              <a:srgbClr val="047857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49840" y="667512"/>
            <a:ext cx="118872" cy="118872"/>
          </a:xfrm>
          <a:prstGeom prst="ellipse">
            <a:avLst/>
          </a:prstGeom>
          <a:solidFill>
            <a:srgbClr val="047857">
              <a:alpha val="40000"/>
            </a:srgbClr>
          </a:solidFill>
          <a:ln w="12700">
            <a:solidFill>
              <a:srgbClr val="047857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97312" y="667512"/>
            <a:ext cx="118872" cy="118872"/>
          </a:xfrm>
          <a:prstGeom prst="ellipse">
            <a:avLst/>
          </a:prstGeom>
          <a:solidFill>
            <a:srgbClr val="047857">
              <a:alpha val="40000"/>
            </a:srgbClr>
          </a:solidFill>
          <a:ln w="12700">
            <a:solidFill>
              <a:srgbClr val="047857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44784" y="667512"/>
            <a:ext cx="118872" cy="118872"/>
          </a:xfrm>
          <a:prstGeom prst="ellipse">
            <a:avLst/>
          </a:prstGeom>
          <a:solidFill>
            <a:srgbClr val="047857">
              <a:alpha val="40000"/>
            </a:srgbClr>
          </a:solidFill>
          <a:ln w="12700">
            <a:solidFill>
              <a:srgbClr val="047857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92256" y="667512"/>
            <a:ext cx="118872" cy="118872"/>
          </a:xfrm>
          <a:prstGeom prst="ellipse">
            <a:avLst/>
          </a:prstGeom>
          <a:solidFill>
            <a:srgbClr val="047857">
              <a:alpha val="40000"/>
            </a:srgbClr>
          </a:solidFill>
          <a:ln w="12700">
            <a:solidFill>
              <a:srgbClr val="047857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539728" y="667512"/>
            <a:ext cx="118872" cy="118872"/>
          </a:xfrm>
          <a:prstGeom prst="ellipse">
            <a:avLst/>
          </a:prstGeom>
          <a:solidFill>
            <a:srgbClr val="047857">
              <a:alpha val="40000"/>
            </a:srgbClr>
          </a:solidFill>
          <a:ln w="12700">
            <a:solidFill>
              <a:srgbClr val="047857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149840" y="1014984"/>
            <a:ext cx="118872" cy="118872"/>
          </a:xfrm>
          <a:prstGeom prst="ellipse">
            <a:avLst/>
          </a:prstGeom>
          <a:solidFill>
            <a:srgbClr val="047857">
              <a:alpha val="40000"/>
            </a:srgbClr>
          </a:solidFill>
          <a:ln w="12700">
            <a:solidFill>
              <a:srgbClr val="047857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497312" y="1014984"/>
            <a:ext cx="118872" cy="118872"/>
          </a:xfrm>
          <a:prstGeom prst="ellipse">
            <a:avLst/>
          </a:prstGeom>
          <a:solidFill>
            <a:srgbClr val="047857">
              <a:alpha val="40000"/>
            </a:srgbClr>
          </a:solidFill>
          <a:ln w="12700">
            <a:solidFill>
              <a:srgbClr val="047857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844784" y="1014984"/>
            <a:ext cx="118872" cy="118872"/>
          </a:xfrm>
          <a:prstGeom prst="ellipse">
            <a:avLst/>
          </a:prstGeom>
          <a:solidFill>
            <a:srgbClr val="047857">
              <a:alpha val="40000"/>
            </a:srgbClr>
          </a:solidFill>
          <a:ln w="12700">
            <a:solidFill>
              <a:srgbClr val="047857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92256" y="1014984"/>
            <a:ext cx="118872" cy="118872"/>
          </a:xfrm>
          <a:prstGeom prst="ellipse">
            <a:avLst/>
          </a:prstGeom>
          <a:solidFill>
            <a:srgbClr val="047857">
              <a:alpha val="40000"/>
            </a:srgbClr>
          </a:solidFill>
          <a:ln w="12700">
            <a:solidFill>
              <a:srgbClr val="047857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539728" y="1014984"/>
            <a:ext cx="118872" cy="118872"/>
          </a:xfrm>
          <a:prstGeom prst="ellipse">
            <a:avLst/>
          </a:prstGeom>
          <a:solidFill>
            <a:srgbClr val="047857">
              <a:alpha val="40000"/>
            </a:srgbClr>
          </a:solidFill>
          <a:ln w="12700">
            <a:solidFill>
              <a:srgbClr val="047857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49840" y="1362456"/>
            <a:ext cx="118872" cy="118872"/>
          </a:xfrm>
          <a:prstGeom prst="ellipse">
            <a:avLst/>
          </a:prstGeom>
          <a:solidFill>
            <a:srgbClr val="047857">
              <a:alpha val="40000"/>
            </a:srgbClr>
          </a:solidFill>
          <a:ln w="12700">
            <a:solidFill>
              <a:srgbClr val="047857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497312" y="1362456"/>
            <a:ext cx="118872" cy="118872"/>
          </a:xfrm>
          <a:prstGeom prst="ellipse">
            <a:avLst/>
          </a:prstGeom>
          <a:solidFill>
            <a:srgbClr val="047857">
              <a:alpha val="40000"/>
            </a:srgbClr>
          </a:solidFill>
          <a:ln w="12700">
            <a:solidFill>
              <a:srgbClr val="047857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44784" y="1362456"/>
            <a:ext cx="118872" cy="118872"/>
          </a:xfrm>
          <a:prstGeom prst="ellipse">
            <a:avLst/>
          </a:prstGeom>
          <a:solidFill>
            <a:srgbClr val="047857">
              <a:alpha val="40000"/>
            </a:srgbClr>
          </a:solidFill>
          <a:ln w="12700">
            <a:solidFill>
              <a:srgbClr val="047857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192256" y="1362456"/>
            <a:ext cx="118872" cy="118872"/>
          </a:xfrm>
          <a:prstGeom prst="ellipse">
            <a:avLst/>
          </a:prstGeom>
          <a:solidFill>
            <a:srgbClr val="047857">
              <a:alpha val="40000"/>
            </a:srgbClr>
          </a:solidFill>
          <a:ln w="12700">
            <a:solidFill>
              <a:srgbClr val="047857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539728" y="1362456"/>
            <a:ext cx="118872" cy="118872"/>
          </a:xfrm>
          <a:prstGeom prst="ellipse">
            <a:avLst/>
          </a:prstGeom>
          <a:solidFill>
            <a:srgbClr val="047857">
              <a:alpha val="40000"/>
            </a:srgbClr>
          </a:solidFill>
          <a:ln w="12700">
            <a:solidFill>
              <a:srgbClr val="047857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149840" y="1709928"/>
            <a:ext cx="118872" cy="118872"/>
          </a:xfrm>
          <a:prstGeom prst="ellipse">
            <a:avLst/>
          </a:prstGeom>
          <a:solidFill>
            <a:srgbClr val="047857">
              <a:alpha val="40000"/>
            </a:srgbClr>
          </a:solidFill>
          <a:ln w="12700">
            <a:solidFill>
              <a:srgbClr val="047857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497312" y="1709928"/>
            <a:ext cx="118872" cy="118872"/>
          </a:xfrm>
          <a:prstGeom prst="ellipse">
            <a:avLst/>
          </a:prstGeom>
          <a:solidFill>
            <a:srgbClr val="047857">
              <a:alpha val="40000"/>
            </a:srgbClr>
          </a:solidFill>
          <a:ln w="12700">
            <a:solidFill>
              <a:srgbClr val="047857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844784" y="1709928"/>
            <a:ext cx="118872" cy="118872"/>
          </a:xfrm>
          <a:prstGeom prst="ellipse">
            <a:avLst/>
          </a:prstGeom>
          <a:solidFill>
            <a:srgbClr val="047857">
              <a:alpha val="40000"/>
            </a:srgbClr>
          </a:solidFill>
          <a:ln w="12700">
            <a:solidFill>
              <a:srgbClr val="047857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192256" y="1709928"/>
            <a:ext cx="118872" cy="118872"/>
          </a:xfrm>
          <a:prstGeom prst="ellipse">
            <a:avLst/>
          </a:prstGeom>
          <a:solidFill>
            <a:srgbClr val="047857">
              <a:alpha val="40000"/>
            </a:srgbClr>
          </a:solidFill>
          <a:ln w="12700">
            <a:solidFill>
              <a:srgbClr val="047857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539728" y="1709928"/>
            <a:ext cx="118872" cy="118872"/>
          </a:xfrm>
          <a:prstGeom prst="ellipse">
            <a:avLst/>
          </a:prstGeom>
          <a:solidFill>
            <a:srgbClr val="047857">
              <a:alpha val="40000"/>
            </a:srgbClr>
          </a:solidFill>
          <a:ln w="12700">
            <a:solidFill>
              <a:srgbClr val="047857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57200"/>
            <a:ext cx="9144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migration is ready.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are built.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validation is automated.</a:t>
            </a:r>
            <a:endParaRPr lang="en-US" sz="3800" dirty="0"/>
          </a:p>
        </p:txBody>
      </p:sp>
      <p:sp>
        <p:nvSpPr>
          <p:cNvPr id="29" name="Shape 27"/>
          <p:cNvSpPr/>
          <p:nvPr/>
        </p:nvSpPr>
        <p:spPr>
          <a:xfrm>
            <a:off x="457200" y="2971800"/>
            <a:ext cx="5029200" cy="4572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1546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one thing from you: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457200" y="3566160"/>
            <a:ext cx="9144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the process.</a:t>
            </a:r>
            <a:endParaRPr lang="en-US" sz="4400" dirty="0"/>
          </a:p>
        </p:txBody>
      </p:sp>
      <p:sp>
        <p:nvSpPr>
          <p:cNvPr id="32" name="Shape 30"/>
          <p:cNvSpPr/>
          <p:nvPr/>
        </p:nvSpPr>
        <p:spPr>
          <a:xfrm>
            <a:off x="457200" y="4617720"/>
            <a:ext cx="2926080" cy="1325880"/>
          </a:xfrm>
          <a:prstGeom prst="rect">
            <a:avLst/>
          </a:prstGeom>
          <a:solidFill>
            <a:srgbClr val="0F2535"/>
          </a:solidFill>
          <a:ln w="19050">
            <a:solidFill>
              <a:srgbClr val="0E749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4617720"/>
            <a:ext cx="292608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73659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48640" y="51663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by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agreed date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0" y="4617720"/>
            <a:ext cx="2926080" cy="1325880"/>
          </a:xfrm>
          <a:prstGeom prst="rect">
            <a:avLst/>
          </a:prstGeom>
          <a:solidFill>
            <a:srgbClr val="0F2535"/>
          </a:solidFill>
          <a:ln w="19050">
            <a:solidFill>
              <a:srgbClr val="6D28D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0" y="4617720"/>
            <a:ext cx="2926080" cy="5486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49040" y="473659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 call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3749040" y="51663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values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(one time only)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858000" y="4617720"/>
            <a:ext cx="2926080" cy="1325880"/>
          </a:xfrm>
          <a:prstGeom prst="rect">
            <a:avLst/>
          </a:prstGeom>
          <a:solidFill>
            <a:srgbClr val="0F2535"/>
          </a:solidFill>
          <a:ln w="19050">
            <a:solidFill>
              <a:srgbClr val="04785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58000" y="4617720"/>
            <a:ext cx="2926080" cy="5486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49440" y="473659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949440" y="51663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review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(&lt; 2 hours)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619963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Contact EBI Team:  pranay136@gmail.com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B1E33"/>
          </a:solidFill>
          <a:ln w="12700">
            <a:solidFill>
              <a:srgbClr val="0B1E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66294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 Team  ·  MSTR Cloud Migration  ·  Confidential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MSTR Migration — Zero Effort. Total Confidence.</dc:title>
  <dc:subject>Stakeholder buy-in deck — 7 instance automation</dc:subject>
  <dc:creator>EBI Team</dc:creator>
  <cp:lastModifiedBy>EBI Team</cp:lastModifiedBy>
  <cp:revision>1</cp:revision>
  <dcterms:created xsi:type="dcterms:W3CDTF">2026-04-19T10:19:30Z</dcterms:created>
  <dcterms:modified xsi:type="dcterms:W3CDTF">2026-04-19T10:19:30Z</dcterms:modified>
</cp:coreProperties>
</file>